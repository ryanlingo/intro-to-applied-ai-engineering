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767676"/>
    <a:srgbClr val="2A73B5"/>
    <a:srgbClr val="DEEBF8"/>
    <a:srgbClr val="4DA447"/>
    <a:srgbClr val="DAEDD7"/>
    <a:srgbClr val="BC0000"/>
    <a:srgbClr val="FFF3F3"/>
    <a:srgbClr val="C14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73"/>
  </p:normalViewPr>
  <p:slideViewPr>
    <p:cSldViewPr snapToGrid="0">
      <p:cViewPr varScale="1">
        <p:scale>
          <a:sx n="161" d="100"/>
          <a:sy n="161" d="100"/>
        </p:scale>
        <p:origin x="232" y="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6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customXml" Target="../customXml/item1.xml"/><Relationship Id="rId9" Type="http://schemas.openxmlformats.org/officeDocument/2006/relationships/customXml" Target="../customXml/item2.xml"/><Relationship Id="rId10" Type="http://schemas.openxmlformats.org/officeDocument/2006/relationships/customXml" Target="../customXml/item3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D010D-3EB6-E21F-6E6C-B085F27FC7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D621F-7F12-7498-2B81-9B5C074154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4AE27-E17E-46EB-8002-A5FC855E559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5CF6D-F7CE-9E8C-26EE-957372031A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C49DD-4B16-FED3-9D8C-F08CD7DA4B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88585-EFFB-471D-887E-895CD82CC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37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C77AF-E826-1E42-8F07-0882D4DA3E9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AA43D-0D3A-6A4D-A00E-FFD4F05E6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5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: 99p Labs - Coral">
    <p:bg>
      <p:bgPr>
        <a:gradFill>
          <a:gsLst>
            <a:gs pos="9000">
              <a:srgbClr val="C14E3F"/>
            </a:gs>
            <a:gs pos="26000">
              <a:srgbClr val="BB4838"/>
            </a:gs>
            <a:gs pos="47000">
              <a:srgbClr val="A53D2C"/>
            </a:gs>
            <a:gs pos="70000">
              <a:srgbClr val="8A2F22"/>
            </a:gs>
            <a:gs pos="88000">
              <a:srgbClr val="6E241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884F321-350A-319B-F543-F9D475D97B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554480"/>
            <a:ext cx="10789920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20C94A7-984E-8918-7089-9AB01D06D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</p:spTree>
    <p:extLst>
      <p:ext uri="{BB962C8B-B14F-4D97-AF65-F5344CB8AC3E}">
        <p14:creationId xmlns:p14="http://schemas.microsoft.com/office/powerpoint/2010/main" val="410253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6051-9F64-8D70-CFB5-6D44E271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636B0-1274-BDC4-BFC0-4B299C57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3/3/26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8233F-5FF9-825D-8FAB-DBBEE7B4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E0B40-AC7C-2783-AA98-DCE92078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1704" y="6537960"/>
            <a:ext cx="2743200" cy="228600"/>
          </a:xfrm>
        </p:spPr>
        <p:txBody>
          <a:bodyPr/>
          <a:lstStyle/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B6DEB3-BF14-E1E8-A4FA-0C285F8917A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7091" y="0"/>
            <a:ext cx="9505570" cy="823743"/>
            <a:chOff x="527091" y="0"/>
            <a:chExt cx="9505570" cy="823743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C54E00F-FA1A-76A0-F5F3-A3D3F2861D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527091" y="500953"/>
              <a:ext cx="322790" cy="322790"/>
            </a:xfrm>
            <a:prstGeom prst="arc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94E0EB-2E78-D3CA-FAB0-C9B3F0335C0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527091" y="0"/>
              <a:ext cx="0" cy="665747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11A672-CD73-DA49-494D-EA260A55FCF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85311" y="823743"/>
              <a:ext cx="9347350" cy="0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9E724A8C-02F8-EA22-BC95-7422930DDA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0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6051-9F64-8D70-CFB5-6D44E271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636B0-1274-BDC4-BFC0-4B299C57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3/3/26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8233F-5FF9-825D-8FAB-DBBEE7B4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E0B40-AC7C-2783-AA98-DCE92078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1704" y="6537960"/>
            <a:ext cx="2743200" cy="228600"/>
          </a:xfrm>
        </p:spPr>
        <p:txBody>
          <a:bodyPr/>
          <a:lstStyle/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B6DEB3-BF14-E1E8-A4FA-0C285F8917A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7091" y="0"/>
            <a:ext cx="9505570" cy="823743"/>
            <a:chOff x="527091" y="0"/>
            <a:chExt cx="9505570" cy="823743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C54E00F-FA1A-76A0-F5F3-A3D3F2861D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527091" y="500953"/>
              <a:ext cx="322790" cy="322790"/>
            </a:xfrm>
            <a:prstGeom prst="arc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94E0EB-2E78-D3CA-FAB0-C9B3F0335C0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527091" y="0"/>
              <a:ext cx="0" cy="665747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11A672-CD73-DA49-494D-EA260A55FCF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85311" y="823743"/>
              <a:ext cx="9347350" cy="0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9E724A8C-02F8-EA22-BC95-7422930DDA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F7474DC-3DC4-9590-1A41-82E49D92DD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1005839"/>
            <a:ext cx="10817352" cy="457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Aptos SemiBold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7947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6051-9F64-8D70-CFB5-6D44E271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636B0-1274-BDC4-BFC0-4B299C57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3/3/26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8233F-5FF9-825D-8FAB-DBBEE7B4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E0B40-AC7C-2783-AA98-DCE92078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1704" y="6537960"/>
            <a:ext cx="2743200" cy="228600"/>
          </a:xfrm>
        </p:spPr>
        <p:txBody>
          <a:bodyPr/>
          <a:lstStyle/>
          <a:p>
            <a:fld id="{3C590BB1-2DCD-6548-82AF-3B006EC5514B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B6DEB3-BF14-E1E8-A4FA-0C285F8917A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7091" y="0"/>
            <a:ext cx="9505570" cy="823743"/>
            <a:chOff x="527091" y="0"/>
            <a:chExt cx="9505570" cy="823743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C54E00F-FA1A-76A0-F5F3-A3D3F2861D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527091" y="500953"/>
              <a:ext cx="322790" cy="322790"/>
            </a:xfrm>
            <a:prstGeom prst="arc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94E0EB-2E78-D3CA-FAB0-C9B3F0335C0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527091" y="0"/>
              <a:ext cx="0" cy="665747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11A672-CD73-DA49-494D-EA260A55FCF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85311" y="823743"/>
              <a:ext cx="9347350" cy="0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9E724A8C-02F8-EA22-BC95-7422930DDA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F7474DC-3DC4-9590-1A41-82E49D92DD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1005839"/>
            <a:ext cx="10817352" cy="457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Aptos SemiBold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2FE6F2-063D-64F6-18E2-254379F4B5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311" y="1600200"/>
            <a:ext cx="10817841" cy="4845529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17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&amp;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6051-9F64-8D70-CFB5-6D44E271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B6DEB3-BF14-E1E8-A4FA-0C285F8917A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7091" y="0"/>
            <a:ext cx="9505570" cy="823743"/>
            <a:chOff x="527091" y="0"/>
            <a:chExt cx="9505570" cy="823743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C54E00F-FA1A-76A0-F5F3-A3D3F2861D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527091" y="500953"/>
              <a:ext cx="322790" cy="322790"/>
            </a:xfrm>
            <a:prstGeom prst="arc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94E0EB-2E78-D3CA-FAB0-C9B3F0335C0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527091" y="0"/>
              <a:ext cx="0" cy="665747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11A672-CD73-DA49-494D-EA260A55FCF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85311" y="823743"/>
              <a:ext cx="9347350" cy="0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9E724A8C-02F8-EA22-BC95-7422930DDA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F7474DC-3DC4-9590-1A41-82E49D92DD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1005839"/>
            <a:ext cx="10817352" cy="457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Aptos SemiBold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2FE6F2-063D-64F6-18E2-254379F4B5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311" y="1600201"/>
            <a:ext cx="10817841" cy="4001837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1664F84-A044-3046-D358-9EA3C51C8392}"/>
              </a:ext>
            </a:extLst>
          </p:cNvPr>
          <p:cNvSpPr/>
          <p:nvPr userDrawn="1"/>
        </p:nvSpPr>
        <p:spPr>
          <a:xfrm>
            <a:off x="527089" y="5782955"/>
            <a:ext cx="11134277" cy="574092"/>
          </a:xfrm>
          <a:prstGeom prst="roundRect">
            <a:avLst>
              <a:gd name="adj" fmla="val 29387"/>
            </a:avLst>
          </a:prstGeom>
          <a:solidFill>
            <a:srgbClr val="C14E3F"/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4451C4C-7C7C-1BC8-FBB3-E69532C96B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185" y="5782955"/>
            <a:ext cx="10817352" cy="57408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Key Takeaway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978B0-D0FC-98AB-6118-E2500A75D92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3/3/26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EA5F9-81CF-1C25-FAFB-C715157DA8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0F6C49-1CA3-7554-773A-1E7F551E80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&amp; Takeaway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6051-9F64-8D70-CFB5-6D44E271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B6DEB3-BF14-E1E8-A4FA-0C285F8917A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7091" y="0"/>
            <a:ext cx="9505570" cy="823743"/>
            <a:chOff x="527091" y="0"/>
            <a:chExt cx="9505570" cy="823743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C54E00F-FA1A-76A0-F5F3-A3D3F2861D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0800000">
              <a:off x="527091" y="500953"/>
              <a:ext cx="322790" cy="322790"/>
            </a:xfrm>
            <a:prstGeom prst="arc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94E0EB-2E78-D3CA-FAB0-C9B3F0335C0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527091" y="0"/>
              <a:ext cx="0" cy="665747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11A672-CD73-DA49-494D-EA260A55FCF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85311" y="823743"/>
              <a:ext cx="9347350" cy="0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9E724A8C-02F8-EA22-BC95-7422930DDA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F7474DC-3DC4-9590-1A41-82E49D92DD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1005839"/>
            <a:ext cx="10817352" cy="457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Aptos SemiBold" panose="020B00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2FE6F2-063D-64F6-18E2-254379F4B5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311" y="1600201"/>
            <a:ext cx="10817841" cy="4001837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1664F84-A044-3046-D358-9EA3C51C8392}"/>
              </a:ext>
            </a:extLst>
          </p:cNvPr>
          <p:cNvSpPr/>
          <p:nvPr userDrawn="1"/>
        </p:nvSpPr>
        <p:spPr>
          <a:xfrm>
            <a:off x="527089" y="5782955"/>
            <a:ext cx="11134277" cy="574092"/>
          </a:xfrm>
          <a:prstGeom prst="roundRect">
            <a:avLst>
              <a:gd name="adj" fmla="val 29387"/>
            </a:avLst>
          </a:prstGeom>
          <a:solidFill>
            <a:srgbClr val="999999"/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4451C4C-7C7C-1BC8-FBB3-E69532C96B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185" y="5782955"/>
            <a:ext cx="10817352" cy="57408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Key Takeaway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978B0-D0FC-98AB-6118-E2500A75D92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3/3/26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EA5F9-81CF-1C25-FAFB-C715157DA8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0F6C49-1CA3-7554-773A-1E7F551E80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- 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884F321-350A-319B-F543-F9D475D97B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554480"/>
            <a:ext cx="10789920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Conclusion, Final Thoughts, Future Call to Action, etc.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20C94A7-984E-8918-7089-9AB01D06D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E60055-E344-888A-35CB-43ACCF0A739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CC373-CC7B-4BB1-A3ED-AEFA885C13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3/3/26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FB88B-BE6F-E294-65EA-5B0F432AB2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11E21-3DED-B881-3E24-97DEC9DBAE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7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- With Thanks or Oth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3766C2-28F2-95BC-6300-EF241063B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371600"/>
            <a:ext cx="10789920" cy="32004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Conclusion, Final Thoughts, Future Call to Action, etc.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75341E90-C039-2CAE-311D-AD6DC8B314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0F97A30-3560-857A-67A4-287074C898BD}"/>
              </a:ext>
            </a:extLst>
          </p:cNvPr>
          <p:cNvGrpSpPr/>
          <p:nvPr userDrawn="1"/>
        </p:nvGrpSpPr>
        <p:grpSpPr>
          <a:xfrm rot="10800000" flipH="1">
            <a:off x="3576653" y="4892040"/>
            <a:ext cx="8615347" cy="1965960"/>
            <a:chOff x="527091" y="-884421"/>
            <a:chExt cx="8611551" cy="1708164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1A61282-3118-0400-FE7D-525E42FFFBCB}"/>
                </a:ext>
              </a:extLst>
            </p:cNvPr>
            <p:cNvSpPr/>
            <p:nvPr userDrawn="1"/>
          </p:nvSpPr>
          <p:spPr>
            <a:xfrm rot="10800000">
              <a:off x="527091" y="500953"/>
              <a:ext cx="322790" cy="322790"/>
            </a:xfrm>
            <a:prstGeom prst="arc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266D283-A195-539E-F303-457B59D8FEF1}"/>
                </a:ext>
              </a:extLst>
            </p:cNvPr>
            <p:cNvCxnSpPr>
              <a:cxnSpLocks/>
            </p:cNvCxnSpPr>
            <p:nvPr userDrawn="1"/>
          </p:nvCxnSpPr>
          <p:spPr>
            <a:xfrm rot="10800000" flipH="1">
              <a:off x="527091" y="-884421"/>
              <a:ext cx="0" cy="1550169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2DD03E5-65DD-59C0-4153-F6E2B4AB21E3}"/>
                </a:ext>
              </a:extLst>
            </p:cNvPr>
            <p:cNvCxnSpPr>
              <a:cxnSpLocks/>
            </p:cNvCxnSpPr>
            <p:nvPr userDrawn="1"/>
          </p:nvCxnSpPr>
          <p:spPr>
            <a:xfrm rot="10800000" flipH="1">
              <a:off x="685311" y="823743"/>
              <a:ext cx="8453331" cy="0"/>
            </a:xfrm>
            <a:prstGeom prst="line">
              <a:avLst/>
            </a:prstGeom>
            <a:ln w="22225">
              <a:solidFill>
                <a:srgbClr val="C14E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09637198-544A-8FB3-5176-F4E0015897D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03401-1D5D-8828-DCD4-9B366D7A6D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3/3/26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9AB52-C959-FE0B-51D7-7B2667EF47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60E7AE-446A-23F9-F6A9-EE51AB46E80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876FEB-FE78-9E09-CCB0-EB408A3664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75251" y="4990637"/>
            <a:ext cx="7680960" cy="1371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Recognition, Special Thanks, Event Immediate Next Steps, etc.</a:t>
            </a:r>
          </a:p>
        </p:txBody>
      </p:sp>
    </p:spTree>
    <p:extLst>
      <p:ext uri="{BB962C8B-B14F-4D97-AF65-F5344CB8AC3E}">
        <p14:creationId xmlns:p14="http://schemas.microsoft.com/office/powerpoint/2010/main" val="254080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Coral">
    <p:bg>
      <p:bgPr>
        <a:gradFill>
          <a:gsLst>
            <a:gs pos="9000">
              <a:srgbClr val="C14E3F"/>
            </a:gs>
            <a:gs pos="26000">
              <a:srgbClr val="BB4838"/>
            </a:gs>
            <a:gs pos="47000">
              <a:srgbClr val="A53D2C"/>
            </a:gs>
            <a:gs pos="70000">
              <a:srgbClr val="8A2F22"/>
            </a:gs>
            <a:gs pos="88000">
              <a:srgbClr val="6E241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475BC-0867-96EA-1954-8446324461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2697480"/>
            <a:ext cx="10789920" cy="77724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64023-5145-903E-9C9D-12602B31B8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575304"/>
            <a:ext cx="10789920" cy="4754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Aptos SemiBold" panose="020B0004020202020204" pitchFamily="34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77677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: 99p Labs - Grey">
    <p:bg>
      <p:bgPr>
        <a:gradFill>
          <a:gsLst>
            <a:gs pos="9000">
              <a:srgbClr val="BFBFBF">
                <a:lumMod val="80000"/>
              </a:srgbClr>
            </a:gs>
            <a:gs pos="25000">
              <a:srgbClr val="BFBFBF">
                <a:lumMod val="80000"/>
              </a:srgbClr>
            </a:gs>
            <a:gs pos="70000">
              <a:srgbClr val="A6A6A6">
                <a:lumMod val="80000"/>
              </a:srgbClr>
            </a:gs>
            <a:gs pos="88000">
              <a:srgbClr val="A6A6A6">
                <a:lumMod val="8000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3766C2-28F2-95BC-6300-EF241063B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554480"/>
            <a:ext cx="10789920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75341E90-C039-2CAE-311D-AD6DC8B314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</p:spTree>
    <p:extLst>
      <p:ext uri="{BB962C8B-B14F-4D97-AF65-F5344CB8AC3E}">
        <p14:creationId xmlns:p14="http://schemas.microsoft.com/office/powerpoint/2010/main" val="52871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Grey">
    <p:bg>
      <p:bgPr>
        <a:gradFill>
          <a:gsLst>
            <a:gs pos="9000">
              <a:srgbClr val="BFBFBF">
                <a:lumMod val="80000"/>
              </a:srgbClr>
            </a:gs>
            <a:gs pos="25000">
              <a:srgbClr val="BFBFBF">
                <a:lumMod val="80000"/>
              </a:srgbClr>
            </a:gs>
            <a:gs pos="70000">
              <a:srgbClr val="A6A6A6">
                <a:lumMod val="80000"/>
              </a:srgbClr>
            </a:gs>
            <a:gs pos="88000">
              <a:srgbClr val="A6A6A6">
                <a:lumMod val="8000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475BC-0867-96EA-1954-8446324461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2697480"/>
            <a:ext cx="10789920" cy="77724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64023-5145-903E-9C9D-12602B31B8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575304"/>
            <a:ext cx="10789920" cy="4754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Aptos SemiBold" panose="020B0004020202020204" pitchFamily="34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361501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: 99p Lab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3766C2-28F2-95BC-6300-EF241063B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554480"/>
            <a:ext cx="10789920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75341E90-C039-2CAE-311D-AD6DC8B314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</p:spTree>
    <p:extLst>
      <p:ext uri="{BB962C8B-B14F-4D97-AF65-F5344CB8AC3E}">
        <p14:creationId xmlns:p14="http://schemas.microsoft.com/office/powerpoint/2010/main" val="262880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475BC-0867-96EA-1954-8446324461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2697480"/>
            <a:ext cx="10789920" cy="77724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64023-5145-903E-9C9D-12602B31B8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575304"/>
            <a:ext cx="10789920" cy="4754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Aptos SemiBold" panose="020B0004020202020204" pitchFamily="34" charset="0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10360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9p Labs &amp; Partner(s) Presentation 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67676"/>
                </a:solidFill>
              </a:defRPr>
            </a:lvl1pPr>
          </a:lstStyle>
          <a:p>
            <a:r>
              <a:rPr lang="en-US"/>
              <a:t>3/3/26</a:t>
            </a:r>
            <a:endParaRPr lang="en-US">
              <a:solidFill>
                <a:srgbClr val="767676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67676"/>
                </a:solidFill>
              </a:defRPr>
            </a:lvl1pPr>
          </a:lstStyle>
          <a:p>
            <a:r>
              <a:rPr lang="en-US" dirty="0">
                <a:solidFill>
                  <a:srgbClr val="767676"/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67676"/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3766C2-28F2-95BC-6300-EF241063B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188720"/>
            <a:ext cx="10789920" cy="3200400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Co-Presentation with Partner Title </a:t>
            </a:r>
          </a:p>
          <a:p>
            <a:pPr lvl="0"/>
            <a:r>
              <a:rPr lang="en-US" dirty="0"/>
              <a:t>Place partner logos next to HRI logo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75341E90-C039-2CAE-311D-AD6DC8B314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556DC47-B816-B954-378F-F2893D303D03}"/>
              </a:ext>
            </a:extLst>
          </p:cNvPr>
          <p:cNvPicPr>
            <a:picLocks/>
          </p:cNvPicPr>
          <p:nvPr userDrawn="1"/>
        </p:nvPicPr>
        <p:blipFill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1748" y="5174280"/>
            <a:ext cx="2588217" cy="54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3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9p Labs &amp; Partner(s) Presentation Title - Grey">
    <p:bg>
      <p:bgPr>
        <a:gradFill>
          <a:gsLst>
            <a:gs pos="9000">
              <a:srgbClr val="BFBFBF">
                <a:lumMod val="80000"/>
              </a:srgbClr>
            </a:gs>
            <a:gs pos="25000">
              <a:srgbClr val="BFBFBF">
                <a:lumMod val="80000"/>
              </a:srgbClr>
            </a:gs>
            <a:gs pos="70000">
              <a:srgbClr val="A6A6A6">
                <a:lumMod val="80000"/>
              </a:srgbClr>
            </a:gs>
            <a:gs pos="88000">
              <a:srgbClr val="A6A6A6">
                <a:lumMod val="8000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3766C2-28F2-95BC-6300-EF241063B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188720"/>
            <a:ext cx="10789920" cy="3200400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Co-Presentation with Partner Title </a:t>
            </a:r>
          </a:p>
          <a:p>
            <a:pPr lvl="0"/>
            <a:r>
              <a:rPr lang="en-US" dirty="0"/>
              <a:t>Place partner logos next to HRI logo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75341E90-C039-2CAE-311D-AD6DC8B314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556DC47-B816-B954-378F-F2893D303D03}"/>
              </a:ext>
            </a:extLst>
          </p:cNvPr>
          <p:cNvPicPr>
            <a:picLocks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1748" y="5174280"/>
            <a:ext cx="2588217" cy="54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4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9p Labs &amp; Partner(s) Presentation Title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3766C2-28F2-95BC-6300-EF241063B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188720"/>
            <a:ext cx="10789920" cy="3200400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>
              <a:defRPr sz="6400" b="1">
                <a:solidFill>
                  <a:schemeClr val="bg1"/>
                </a:solidFill>
              </a:defRPr>
            </a:lvl2pPr>
            <a:lvl3pPr>
              <a:defRPr sz="6400" b="1">
                <a:solidFill>
                  <a:schemeClr val="bg1"/>
                </a:solidFill>
              </a:defRPr>
            </a:lvl3pPr>
            <a:lvl4pPr>
              <a:defRPr sz="6400" b="1">
                <a:solidFill>
                  <a:schemeClr val="bg1"/>
                </a:solidFill>
              </a:defRPr>
            </a:lvl4pPr>
            <a:lvl5pPr>
              <a:defRPr sz="6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Co-Presentation with Partner Title </a:t>
            </a:r>
          </a:p>
          <a:p>
            <a:pPr lvl="0"/>
            <a:r>
              <a:rPr lang="en-US" dirty="0"/>
              <a:t>Place partner logos next to HRI logo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75341E90-C039-2CAE-311D-AD6DC8B314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556DC47-B816-B954-378F-F2893D303D03}"/>
              </a:ext>
            </a:extLst>
          </p:cNvPr>
          <p:cNvPicPr>
            <a:picLocks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1748" y="5174280"/>
            <a:ext cx="2588217" cy="54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6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: 99p Lab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9E3766C2-28F2-95BC-6300-EF241063B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1554480"/>
            <a:ext cx="10789920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400" b="1">
                <a:solidFill>
                  <a:schemeClr val="tx1"/>
                </a:solidFill>
                <a:latin typeface="+mj-lt"/>
              </a:defRPr>
            </a:lvl1pPr>
            <a:lvl2pPr>
              <a:defRPr sz="6400" b="1">
                <a:solidFill>
                  <a:schemeClr val="tx1"/>
                </a:solidFill>
              </a:defRPr>
            </a:lvl2pPr>
            <a:lvl3pPr>
              <a:defRPr sz="6400" b="1">
                <a:solidFill>
                  <a:schemeClr val="tx1"/>
                </a:solidFill>
              </a:defRPr>
            </a:lvl3pPr>
            <a:lvl4pPr>
              <a:defRPr sz="6400" b="1">
                <a:solidFill>
                  <a:schemeClr val="tx1"/>
                </a:solidFill>
              </a:defRPr>
            </a:lvl4pPr>
            <a:lvl5pPr>
              <a:defRPr sz="6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75341E90-C039-2CAE-311D-AD6DC8B314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20040"/>
            <a:ext cx="8229600" cy="73152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 dirty="0"/>
              <a:t>Superhead – Event, Venue, or Other Information</a:t>
            </a:r>
          </a:p>
        </p:txBody>
      </p:sp>
    </p:spTree>
    <p:extLst>
      <p:ext uri="{BB962C8B-B14F-4D97-AF65-F5344CB8AC3E}">
        <p14:creationId xmlns:p14="http://schemas.microsoft.com/office/powerpoint/2010/main" val="52871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3A83B8C-38E4-DF01-F43F-DA8143D4985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055" y="165730"/>
            <a:ext cx="2743200" cy="57558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0F6E9B-D79B-FD4C-093A-53C51AA0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r>
              <a:rPr lang="en-US"/>
              <a:t>3/3/26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93E3F1F-978E-B8D4-4D39-5ED59FA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E28720-DF26-6F43-6F31-2AF3BDD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475BC-0867-96EA-1954-8446324461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040" y="2697480"/>
            <a:ext cx="10789920" cy="77724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  <a:latin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64023-5145-903E-9C9D-12602B31B8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40" y="3575304"/>
            <a:ext cx="10789920" cy="4754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  <a:latin typeface="Aptos SemiBold" panose="020B0004020202020204" pitchFamily="34" charset="0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361501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97ED4-55BA-2F62-9AF8-147A5316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1038"/>
            <a:ext cx="9601200" cy="6875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F0BBF-C11E-E230-5B0F-64316B9F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17352" cy="48463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2FA75-FD56-55C2-B50B-3850FC5EC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50" y="6537960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3/3/26</a:t>
            </a:r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AD2D-4180-A27E-5721-BAAA83C2B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37960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Footer</a:t>
            </a:r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9E981-EDBB-9FC9-DAB6-C776EE767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1450" y="6537960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3C590BB1-2DCD-6548-82AF-3B006EC5514B}" type="slidenum">
              <a:rPr lang="en-US" smtClean="0"/>
              <a:pPr/>
              <a:t>‹#›</a:t>
            </a:fld>
            <a:endParaRPr lang="en-US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95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8"/>
    <p:sldLayoutId id="2147483751" r:id="rId2"/>
    <p:sldLayoutId id="2147483651" r:id="rId3"/>
    <p:sldLayoutId id="2147483652" r:id="rId4"/>
    <p:sldLayoutId id="2147483657" r:id="rId5"/>
    <p:sldLayoutId id="2147483668" r:id="rId7"/>
    <p:sldLayoutId id="2147483667" r:id="rId8"/>
    <p:sldLayoutId id="2147483761" r:id="rId19"/>
    <p:sldLayoutId id="2147483753" r:id="rId14"/>
    <p:sldLayoutId id="2147483653" r:id="rId1"/>
    <p:sldLayoutId id="2147483756" r:id="rId9"/>
    <p:sldLayoutId id="2147483752" r:id="rId10"/>
    <p:sldLayoutId id="2147483757" r:id="rId11"/>
    <p:sldLayoutId id="2147483750" r:id="rId6"/>
    <p:sldLayoutId id="2147483754" r:id="rId15"/>
    <p:sldLayoutId id="2147483759" r:id="rId12"/>
    <p:sldLayoutId id="2147483758" r:id="rId13"/>
    <p:sldLayoutId id="2147483755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A QUICKSTART, NOT A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200" b="1" i="0">
                <a:solidFill>
                  <a:srgbClr val="1A1A1A"/>
                </a:solidFill>
                <a:latin typeface="Aptos"/>
              </a:rPr>
              <a:t>Intro to Applied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 i="0">
                <a:solidFill>
                  <a:srgbClr val="666666"/>
                </a:solidFill>
                <a:latin typeface="Aptos"/>
              </a:rPr>
              <a:t>Use AI to think, document, and learn on work you actually care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ptos"/>
              </a:rPr>
              <a:t>You take a generic AI agent and turn this repo into a living </a:t>
            </a:r>
            <a:r>
              <a:rPr sz="1800" b="1" i="0">
                <a:solidFill>
                  <a:srgbClr val="1A1A1A"/>
                </a:solidFill>
                <a:latin typeface="Aptos"/>
              </a:rPr>
              <a:t>LLM wiki</a:t>
            </a:r>
            <a:r>
              <a:rPr sz="1800" b="0" i="0">
                <a:solidFill>
                  <a:srgbClr val="1A1A1A"/>
                </a:solidFill>
                <a:latin typeface="Aptos"/>
              </a:rPr>
              <a:t> for a project of your own: it reads your material, builds knowledge you can question, documents the work and your learning, and tells you whether to trust it.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666666"/>
                </a:solidFill>
                <a:latin typeface="Aptos"/>
              </a:rPr>
              <a:t>Six short, self-paced modules. Do the hands-on steps on your own material — the goal is a wiki you keep using.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THE BIG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Stop using AI as an </a:t>
            </a:r>
            <a:r>
              <a:rPr sz="3000" b="1" i="0">
                <a:solidFill>
                  <a:srgbClr val="C14E3F"/>
                </a:solidFill>
                <a:latin typeface="Aptos"/>
              </a:rPr>
              <a:t>answer machine</a:t>
            </a:r>
            <a:r>
              <a:rPr sz="3000" b="1" i="0">
                <a:solidFill>
                  <a:srgbClr val="1A1A1A"/>
                </a:solidFill>
                <a:latin typeface="Apto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ptos"/>
              </a:rPr>
              <a:t>Ask, copy, forget. It feels productive and teaches you nothing — the fluency that makes a model sound smart is the same fluency that hides what you don't actually understand.</a:t>
            </a:r>
          </a:p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ptos"/>
              </a:rPr>
              <a:t>The alternative: build a small </a:t>
            </a:r>
            <a:r>
              <a:rPr sz="1800" b="1" i="0">
                <a:solidFill>
                  <a:srgbClr val="1A1A1A"/>
                </a:solidFill>
                <a:latin typeface="Aptos"/>
              </a:rPr>
              <a:t>engine</a:t>
            </a:r>
            <a:r>
              <a:rPr sz="1800" b="0" i="0">
                <a:solidFill>
                  <a:srgbClr val="1A1A1A"/>
                </a:solidFill>
                <a:latin typeface="Aptos"/>
              </a:rPr>
              <a:t> on top of your own material that helps you figure out what you don't yet know — while </a:t>
            </a:r>
            <a:r>
              <a:rPr sz="1800" b="1" i="0">
                <a:solidFill>
                  <a:srgbClr val="1A1A1A"/>
                </a:solidFill>
                <a:latin typeface="Aptos"/>
              </a:rPr>
              <a:t>you</a:t>
            </a:r>
            <a:r>
              <a:rPr sz="1800" b="0" i="0">
                <a:solidFill>
                  <a:srgbClr val="1A1A1A"/>
                </a:solidFill>
                <a:latin typeface="Aptos"/>
              </a:rPr>
              <a:t> stay the critical thinker in the loop.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666666"/>
                </a:solidFill>
                <a:latin typeface="Aptos"/>
              </a:rPr>
              <a:t>The goal isn't answers faster. It's better thinking, documented as you go, that you can trust because you tested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THE LANDSCAPE · WHAT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What applied AI engineering helps you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ptos"/>
              </a:rPr>
              <a:t>Across almost any knowledge work, the same kind of engine helps in a handful of broad ways: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3200400" cy="36576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Understand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ptos"/>
              </a:rPr>
              <a:t>Turn a pile of docs, code, or data into knowledge you can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2331720"/>
            <a:ext cx="3200400" cy="36576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2450591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Find &amp; ground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ptos"/>
              </a:rPr>
              <a:t>Get answers from your material, with citations — not generic guesses.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2331720"/>
            <a:ext cx="3200400" cy="36576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2450591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Create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ptos"/>
              </a:rPr>
              <a:t>Draft and revise documents, code, and plans; get past the blank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3200400" cy="36576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79392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Decide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ptos"/>
              </a:rPr>
              <a:t>Lay out options and tradeoffs, and pressure-test your reasoning.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4160520"/>
            <a:ext cx="3200400" cy="36576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279392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Learn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ptos"/>
              </a:rPr>
              <a:t>A tutor that explains, quizzes, and grades honestly — so it sticks.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4160520"/>
            <a:ext cx="3200400" cy="36576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4279392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Trust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ptos"/>
              </a:rPr>
              <a:t>Test whether the output is right before you rely on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666666"/>
                </a:solidFill>
                <a:latin typeface="Aptos"/>
              </a:rPr>
              <a:t>This quickstart builds one such engine — an LLM wiki — and uses it for the foundation the rest build on: </a:t>
            </a:r>
            <a:r>
              <a:rPr sz="1300" b="1" i="0">
                <a:solidFill>
                  <a:srgbClr val="666666"/>
                </a:solidFill>
                <a:latin typeface="Aptos"/>
              </a:rPr>
              <a:t>understand</a:t>
            </a:r>
            <a:r>
              <a:rPr sz="1300" b="0" i="0">
                <a:solidFill>
                  <a:srgbClr val="666666"/>
                </a:solidFill>
                <a:latin typeface="Aptos"/>
              </a:rPr>
              <a:t>, </a:t>
            </a:r>
            <a:r>
              <a:rPr sz="1300" b="1" i="0">
                <a:solidFill>
                  <a:srgbClr val="666666"/>
                </a:solidFill>
                <a:latin typeface="Aptos"/>
              </a:rPr>
              <a:t>learn</a:t>
            </a:r>
            <a:r>
              <a:rPr sz="1300" b="0" i="0">
                <a:solidFill>
                  <a:srgbClr val="666666"/>
                </a:solidFill>
                <a:latin typeface="Aptos"/>
              </a:rPr>
              <a:t>, and </a:t>
            </a:r>
            <a:r>
              <a:rPr sz="1300" b="1" i="0">
                <a:solidFill>
                  <a:srgbClr val="666666"/>
                </a:solidFill>
                <a:latin typeface="Aptos"/>
              </a:rPr>
              <a:t>trust</a:t>
            </a:r>
            <a:r>
              <a:rPr sz="1300" b="0" i="0">
                <a:solidFill>
                  <a:srgbClr val="666666"/>
                </a:solidFill>
                <a:latin typeface="Aptos"/>
              </a:rPr>
              <a:t> your own material.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WHAT YOU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Three layers, two habits.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554480" cy="658368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pto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874519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Aptos"/>
              </a:rPr>
              <a:t>Raw material you give it — specs, docs, notes, data. The agent READS, never edits.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554480" cy="658368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ptos"/>
              </a:rPr>
              <a:t>Wiki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624327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Aptos"/>
              </a:rPr>
              <a:t>The knowledge base the agent WRITES and keeps current: pages, an index, concepts, citations.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74135"/>
            <a:ext cx="1554480" cy="658368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ptos"/>
              </a:rPr>
              <a:t>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374135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Aptos"/>
              </a:rPr>
              <a:t>AGENTS.md — the rules that turn a generic agent into a disciplined wiki maintainer. You own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9663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Aptos"/>
              </a:rPr>
              <a:t>And two habits that run the whole time: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26864"/>
            <a:ext cx="10545775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Document everything, on two tracks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a project log and a learning log.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Evaluate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a loop you run to check whether the wiki, and your understanding, hold 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CONCEPTS ·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Three ways to put a model to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ptos"/>
              </a:rPr>
              <a:t>Not a ranking and not a guide for action — a map of the space, so you can tell which mode you're actually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2316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ptos"/>
              </a:rPr>
              <a:t>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42316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42316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ptos"/>
              </a:rPr>
              <a:t>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42316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2316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14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C14E3F"/>
                </a:solidFill>
                <a:latin typeface="Aptos"/>
              </a:rPr>
              <a:t>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72968"/>
            <a:ext cx="7589520" cy="566928"/>
          </a:xfrm>
          <a:prstGeom prst="rect">
            <a:avLst/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>
                <a:solidFill>
                  <a:srgbClr val="C14E3F"/>
                </a:solidFill>
                <a:latin typeface="Aptos"/>
              </a:rPr>
              <a:t>CONTEXT</a:t>
            </a:r>
            <a:r>
              <a:rPr sz="1300" b="1">
                <a:solidFill>
                  <a:srgbClr val="1A1A1A"/>
                </a:solidFill>
                <a:latin typeface="Aptos"/>
              </a:rPr>
              <a:t> — what the model knows. The ground all three run on, not a mode you pick.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45775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Prompts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one-off. You ask, the model answers.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Workflows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a fixed, predetermined program: steps you define in advance, run the same way each time.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Agents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dynamic: the model creates and revises its own steps at runtime to reach a goal.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666666"/>
                </a:solidFill>
                <a:latin typeface="Aptos"/>
              </a:rPr>
              <a:t>Left to right, the steps shift from </a:t>
            </a:r>
            <a:r>
              <a:rPr sz="1300" b="1" i="0">
                <a:solidFill>
                  <a:srgbClr val="666666"/>
                </a:solidFill>
                <a:latin typeface="Aptos"/>
              </a:rPr>
              <a:t>fixed</a:t>
            </a:r>
            <a:r>
              <a:rPr sz="1300" b="0" i="0">
                <a:solidFill>
                  <a:srgbClr val="666666"/>
                </a:solidFill>
                <a:latin typeface="Aptos"/>
              </a:rPr>
              <a:t> to </a:t>
            </a:r>
            <a:r>
              <a:rPr sz="1300" b="1" i="0">
                <a:solidFill>
                  <a:srgbClr val="666666"/>
                </a:solidFill>
                <a:latin typeface="Aptos"/>
              </a:rPr>
              <a:t>dynamic</a:t>
            </a:r>
            <a:r>
              <a:rPr sz="1300" b="0" i="0">
                <a:solidFill>
                  <a:srgbClr val="666666"/>
                </a:solidFill>
                <a:latin typeface="Aptos"/>
              </a:rPr>
              <a:t> — and from </a:t>
            </a:r>
            <a:r>
              <a:rPr sz="1300" b="1" i="0">
                <a:solidFill>
                  <a:srgbClr val="666666"/>
                </a:solidFill>
                <a:latin typeface="Aptos"/>
              </a:rPr>
              <a:t>you</a:t>
            </a:r>
            <a:r>
              <a:rPr sz="1300" b="0" i="0">
                <a:solidFill>
                  <a:srgbClr val="666666"/>
                </a:solidFill>
                <a:latin typeface="Aptos"/>
              </a:rPr>
              <a:t> deciding them to the </a:t>
            </a:r>
            <a:r>
              <a:rPr sz="1300" b="1" i="0">
                <a:solidFill>
                  <a:srgbClr val="666666"/>
                </a:solidFill>
                <a:latin typeface="Aptos"/>
              </a:rPr>
              <a:t>model</a:t>
            </a:r>
            <a:r>
              <a:rPr sz="1300" b="0" i="0">
                <a:solidFill>
                  <a:srgbClr val="666666"/>
                </a:solidFill>
                <a:latin typeface="Aptos"/>
              </a:rPr>
              <a:t> deciding them. Every mode is only as good as the context beneath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CONCEPTS · THE VOCABULARY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The words you'll use constantly.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LLM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predicts the next chunk of text. Brilliant at sounding right, which is not being right. A fast, confident intern with no memory and no accountability.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Token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the unit a model reads, writes, and bills in. “Cheaper / fit more” = fewer tokens.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Context window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all the text the model can see at once. It's finite. What's not in the window doesn't exist to the model. Managing it is most of the skill.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Prompt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your instruction. A good one is a specification (what, in what form, with what constraints), not a magic phrase.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Context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everything the model needs before it can help: facts, files, goals, audience. The grounding that makes an answer about your project, not a generic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CONCEPTS · THE VOCABULARY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From tools to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Tool / tool-calling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a capability the model can invoke (read a file, run a command, search). Where the power and the risk live, so tools get boundaries.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Agent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an LLM in a loop with tools: read, decide, act, observe, repeat. An agent without checks is just automation with confidence.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Harness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the program that wraps the model, gives it tools, and runs the loop. Here that's opencode.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AGENTS.md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the schema that turns a generic agent into your disciplined one. The heart of this repo.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Eval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a test of whether output is actually good: a question with a known-good answer. Turns “I think it works” into a number.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14E3F"/>
                </a:solidFill>
                <a:latin typeface="Aptos"/>
              </a:rPr>
              <a:t>Hallucination</a:t>
            </a:r>
            <a:r>
              <a:rPr sz="1500" b="0" i="0">
                <a:solidFill>
                  <a:srgbClr val="1A1A1A"/>
                </a:solidFill>
                <a:latin typeface="Aptos"/>
              </a:rPr>
              <a:t> — a confident, fluent, wrong answer. The default failure of LLMs. The whole discipline exists to catch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CONCEPTS · WHAT YOU'RE HUNTING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The four </a:t>
            </a:r>
            <a:r>
              <a:rPr sz="3000" b="1" i="0">
                <a:solidFill>
                  <a:srgbClr val="C14E3F"/>
                </a:solidFill>
                <a:latin typeface="Aptos"/>
              </a:rPr>
              <a:t>failure modes</a:t>
            </a:r>
            <a:r>
              <a:rPr sz="3000" b="1" i="0">
                <a:solidFill>
                  <a:srgbClr val="1A1A1A"/>
                </a:solidFill>
                <a:latin typeface="Apto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ptos"/>
              </a:rPr>
              <a:t>Name them when you catch them — they're baked into AGENTS.md so the agent self-checks too.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77440"/>
          <a:ext cx="10515600" cy="2834640"/>
        </p:xfrm>
        <a:graphic>
          <a:graphicData uri="http://schemas.openxmlformats.org/drawingml/2006/table">
            <a:tbl>
              <a:tblPr/>
              <a:tblGrid>
                <a:gridCol w="3200400"/>
                <a:gridCol w="731520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14E3F"/>
                          </a:solidFill>
                          <a:latin typeface="Aptos"/>
                        </a:rPr>
                        <a:t>Failure mode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14E3F"/>
                          </a:solidFill>
                          <a:latin typeface="Aptos"/>
                        </a:rPr>
                        <a:t>What it looks like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Aptos"/>
                        </a:rPr>
                        <a:t>Fluency ≠ correctness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ptos"/>
                        </a:rPr>
                        <a:t>It sounds right. Check whether it is.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Aptos"/>
                        </a:rPr>
                        <a:t>Automation bias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ptos"/>
                        </a:rPr>
                        <a:t>“A machine made it” is not evidence it's true.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Aptos"/>
                        </a:rPr>
                        <a:t>Anchoring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ptos"/>
                        </a:rPr>
                        <a:t>The first framing or first source isn't automatically the best one.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Aptos"/>
                        </a:rPr>
                        <a:t>Sycophancy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ptos"/>
                        </a:rPr>
                        <a:t>A model that agrees with you isn't the same as a model that's right.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SETUP · THE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Three things to get working first.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14E3F"/>
                          </a:solidFill>
                          <a:latin typeface="Aptos"/>
                        </a:rPr>
                        <a:t>Tool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14E3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Aptos"/>
                        </a:rPr>
                        <a:t>opencode</a:t>
                      </a:r>
                      <a:r>
                        <a:rPr sz="1200" b="0" i="0">
                          <a:solidFill>
                            <a:srgbClr val="666666"/>
                          </a:solidFill>
                          <a:latin typeface="Aptos"/>
                        </a:rPr>
                        <a:t>  (opencode.ai)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ptos"/>
                        </a:rPr>
                        <a:t>The agent harness. Runs the agent — reads sources/, writes wiki/, follows AGENTS.md automatically. This is the engine.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Aptos"/>
                        </a:rPr>
                        <a:t>A provider key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ptos"/>
                        </a:rPr>
                        <a:t>The model behind the agent. Use a capable reasoning model — and set a hard spend cap with your provider before your first run, not after a surprise bill.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Aptos"/>
                        </a:rPr>
                        <a:t>An editor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ptos"/>
                        </a:rPr>
                        <a:t>How you read and browse the wiki: VS Code and/or Obsidian (next slide).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864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666666"/>
                </a:solidFill>
                <a:latin typeface="Aptos"/>
              </a:rPr>
              <a:t>Don't lose a session fighting your environment — get all three working before anything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SETUP · CHOOSE AN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VS Code </a:t>
            </a:r>
            <a:r>
              <a:rPr sz="3000" b="1" i="0">
                <a:solidFill>
                  <a:srgbClr val="C14E3F"/>
                </a:solidFill>
                <a:latin typeface="Aptos"/>
              </a:rPr>
              <a:t>and/or</a:t>
            </a:r>
            <a:r>
              <a:rPr sz="3000" b="1" i="0">
                <a:solidFill>
                  <a:srgbClr val="1A1A1A"/>
                </a:solidFill>
                <a:latin typeface="Aptos"/>
              </a:rPr>
              <a:t> Obsidian.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ptos"/>
              </a:rPr>
              <a:t>Both work — this is preference, not correctness.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240280"/>
          <a:ext cx="10515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4343400"/>
                <a:gridCol w="4343400"/>
              </a:tblGrid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C14E3F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C14E3F"/>
                          </a:solidFill>
                          <a:latin typeface="Aptos"/>
                        </a:rPr>
                        <a:t>VS Code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C14E3F"/>
                          </a:solidFill>
                          <a:latin typeface="Aptos"/>
                        </a:rPr>
                        <a:t>Obsidian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ptos"/>
                        </a:rPr>
                        <a:t>Best when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ptos"/>
                        </a:rPr>
                        <a:t>Your project is code, or lives near a terminal and Git.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ptos"/>
                        </a:rPr>
                        <a:t>Your project is knowledge you want to navigate and connect.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ptos"/>
                        </a:rPr>
                        <a:t>Strengths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ptos"/>
                        </a:rPr>
                        <a:t>Integrated terminal &amp; Git, runs opencode inline, great for code and config.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ptos"/>
                        </a:rPr>
                        <a:t>Beautiful Markdown, backlinks, and a graph view of how pages connect.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ptos"/>
                        </a:rPr>
                        <a:t>Tradeoff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ptos"/>
                        </a:rPr>
                        <a:t>Markdown browsing is plain.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ptos"/>
                        </a:rPr>
                        <a:t>No built-in terminal/Git; run opencode alongside it.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666666"/>
                </a:solidFill>
                <a:latin typeface="Aptos"/>
              </a:rPr>
              <a:t>Many run both: VS Code for the agent and Git, Obsidian to read the wiki and see its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SETUP · SAFETY &amp;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1A1A1A"/>
                </a:solidFill>
                <a:latin typeface="Aptos"/>
              </a:rPr>
              <a:t>Keep a known-good state. Verify before moving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852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A1A1A"/>
                </a:solidFill>
                <a:latin typeface="Aptos"/>
              </a:rPr>
              <a:t>Never paste secrets or private data into a prompt or source file.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A1A1A"/>
                </a:solidFill>
                <a:latin typeface="Aptos"/>
              </a:rPr>
              <a:t>Checkpoint before letting the agent change anything (git commit, or dated copies).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A1A1A"/>
                </a:solidFill>
                <a:latin typeface="Aptos"/>
              </a:rPr>
              <a:t>Review every change before you accept it.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A1A1A"/>
                </a:solidFill>
                <a:latin typeface="Aptos"/>
              </a:rPr>
              <a:t>Prefer small, reviewable steps.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A1A1A"/>
                </a:solidFill>
                <a:latin typeface="Aptos"/>
              </a:rPr>
              <a:t>Give the agent narrow authority — let it own wiki/, not your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SMOKE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286000"/>
            <a:ext cx="438912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C14E3F"/>
                </a:solidFill>
                <a:latin typeface="Aptos"/>
              </a:rPr>
              <a:t>ASK THE AGENT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1">
                <a:solidFill>
                  <a:srgbClr val="1A1A1A"/>
                </a:solidFill>
                <a:latin typeface="Aptos"/>
              </a:rPr>
              <a:t>Read AGENTS.md and tell me, in your own words, what your job is in this repo and what you are not allowed to touch.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2286000"/>
            <a:ext cx="45720" cy="1920240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38912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666666"/>
                </a:solidFill>
                <a:latin typeface="Aptos"/>
              </a:rPr>
              <a:t>If it answers that it maintains wiki/, follows the schema, and must never edit sources/ — your setup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DOCUMENT &amp; WIKI · 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The wiki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ptos"/>
              </a:rPr>
              <a:t>Instead of asking the model from memory, you give it a folder of your material and let it build and maintain a knowledge base on 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834640"/>
            <a:ext cx="3291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ptos"/>
              </a:rPr>
              <a:t>sources/  ·  agent 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834640"/>
            <a:ext cx="502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2834640"/>
            <a:ext cx="3291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14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C14E3F"/>
                </a:solidFill>
                <a:latin typeface="Aptos"/>
              </a:rPr>
              <a:t>wiki/  ·  agent 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834640"/>
            <a:ext cx="502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834640"/>
            <a:ext cx="3291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ptos"/>
              </a:rPr>
              <a:t>AGENTS.md  ·  the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45775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Why Markdown?</a:t>
            </a:r>
            <a:r>
              <a:rPr sz="1700" b="0" i="0">
                <a:solidFill>
                  <a:srgbClr val="1A1A1A"/>
                </a:solidFill>
                <a:latin typeface="Aptos"/>
              </a:rPr>
              <a:t> A .md file opens in any editor, on any system, with no vendor lock-in. Your knowledge doesn't depend on a company staying in business or an app keeping a feature. It's yours, in plain text, forever.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DOCUMENT &amp; WIKI · 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Document everything — on </a:t>
            </a:r>
            <a:r>
              <a:rPr sz="3000" b="1" i="0">
                <a:solidFill>
                  <a:srgbClr val="C14E3F"/>
                </a:solidFill>
                <a:latin typeface="Aptos"/>
              </a:rPr>
              <a:t>two logs</a:t>
            </a:r>
            <a:r>
              <a:rPr sz="3000" b="1" i="0">
                <a:solidFill>
                  <a:srgbClr val="1A1A1A"/>
                </a:solidFill>
                <a:latin typeface="Aptos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1560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  <a:gridCol w="3931920"/>
                <a:gridCol w="2286000"/>
              </a:tblGrid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14E3F"/>
                          </a:solidFill>
                          <a:latin typeface="Aptos"/>
                        </a:rPr>
                        <a:t>Track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14E3F"/>
                          </a:solidFill>
                          <a:latin typeface="Aptos"/>
                        </a:rPr>
                        <a:t>File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14E3F"/>
                          </a:solidFill>
                          <a:latin typeface="Aptos"/>
                        </a:rPr>
                        <a:t>Captures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14E3F"/>
                          </a:solidFill>
                          <a:latin typeface="Aptos"/>
                        </a:rPr>
                        <a:t>Answers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1A1A1A"/>
                          </a:solidFill>
                          <a:latin typeface="Aptos"/>
                        </a:rPr>
                        <a:t>Project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ptos"/>
                        </a:rPr>
                        <a:t>wiki/log.md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ptos"/>
                        </a:rPr>
                        <a:t>What was done, what changed, decisions and why, what's open.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1">
                          <a:solidFill>
                            <a:srgbClr val="1A1A1A"/>
                          </a:solidFill>
                          <a:latin typeface="Aptos"/>
                        </a:rPr>
                        <a:t>What happened to the work?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1A1A1A"/>
                          </a:solidFill>
                          <a:latin typeface="Aptos"/>
                        </a:rPr>
                        <a:t>Learning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ptos"/>
                        </a:rPr>
                        <a:t>wiki/learning-log.md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ptos"/>
                        </a:rPr>
                        <a:t>What you understood, in your own words; aha-moments; open questions.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1">
                          <a:solidFill>
                            <a:srgbClr val="1A1A1A"/>
                          </a:solidFill>
                          <a:latin typeface="Aptos"/>
                        </a:rPr>
                        <a:t>What did I figure out?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06240"/>
            <a:ext cx="10545775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ptos"/>
              </a:rPr>
              <a:t>The project log is the memory of the work. The learning log is the memory of </a:t>
            </a:r>
            <a:r>
              <a:rPr sz="1600" b="0" i="1">
                <a:solidFill>
                  <a:srgbClr val="1A1A1A"/>
                </a:solidFill>
                <a:latin typeface="Aptos"/>
              </a:rPr>
              <a:t>you getting smarter</a:t>
            </a:r>
            <a:r>
              <a:rPr sz="1600" b="0" i="0">
                <a:solidFill>
                  <a:srgbClr val="1A1A1A"/>
                </a:solidFill>
                <a:latin typeface="Aptos"/>
              </a:rPr>
              <a:t>. AGENTS.md tells the agent to keep both: it appends to the project log after work, and prompts you for a learning entry whenever it teaches you something.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DOCUMENT &amp; WIKI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Build your wiki — on real material.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Add sources.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Drop 2–3 real files into sources/ — a spec, a design doc, data, an article, notes.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Ingest: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C14E3F"/>
                </a:solidFill>
                <a:latin typeface="Aptos"/>
              </a:rPr>
              <a:t>ASK THE AGENT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1">
                <a:solidFill>
                  <a:srgbClr val="1A1A1A"/>
                </a:solidFill>
                <a:latin typeface="Aptos"/>
              </a:rPr>
              <a:t>Ingest the files in sources/. For each, create a summary page in the wiki and extract the key concepts and entities into their own pages, with source citations. Then update wiki/index.md and log what you did.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45720" cy="1463040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Inspect.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Open the new pages. Does every claim cite a source? In Obsidian, check the graph.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Ask a grounded question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only your sources can answer. Confidently filling a gap is a hallucination — note it.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Check the logs.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Confirm log.md got an entry; write your first learning-log entry in your own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EVALUATION ·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Trust you </a:t>
            </a:r>
            <a:r>
              <a:rPr sz="3000" b="1" i="0">
                <a:solidFill>
                  <a:srgbClr val="C14E3F"/>
                </a:solidFill>
                <a:latin typeface="Aptos"/>
              </a:rPr>
              <a:t>test</a:t>
            </a:r>
            <a:r>
              <a:rPr sz="3000" b="1" i="0">
                <a:solidFill>
                  <a:srgbClr val="1A1A1A"/>
                </a:solidFill>
                <a:latin typeface="Aptos"/>
              </a:rPr>
              <a:t>, not trust you hope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ptos"/>
              </a:rPr>
              <a:t>A wiki you can't trust is worse than no wiki — it's confident misinformation.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Aptos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Aptos"/>
              </a:rPr>
              <a:t>Label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Aptos"/>
              </a:rPr>
              <a:t>Build evals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Aptos"/>
              </a:rPr>
              <a:t>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14E3F"/>
                </a:solidFill>
                <a:latin typeface="Apto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C14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C14E3F"/>
                </a:solidFill>
                <a:latin typeface="Aptos"/>
              </a:rPr>
              <a:t>Re-test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10545775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“Looks good” is fluency talking.</a:t>
            </a:r>
            <a:r>
              <a:rPr sz="1700" b="0" i="0">
                <a:solidFill>
                  <a:srgbClr val="1A1A1A"/>
                </a:solidFill>
                <a:latin typeface="Aptos"/>
              </a:rPr>
              <a:t> An eval set turns a vibe into a number: </a:t>
            </a:r>
            <a:r>
              <a:rPr sz="1700" b="0" i="1">
                <a:solidFill>
                  <a:srgbClr val="1A1A1A"/>
                </a:solidFill>
                <a:latin typeface="Aptos"/>
              </a:rPr>
              <a:t>of my ten test questions, the wiki gets eight grounded and right.</a:t>
            </a:r>
            <a:r>
              <a:rPr sz="1700" b="0" i="0">
                <a:solidFill>
                  <a:srgbClr val="1A1A1A"/>
                </a:solidFill>
                <a:latin typeface="Aptos"/>
              </a:rPr>
              <a:t> Now you can prove an improvement instead of guessing at one.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666666"/>
                </a:solidFill>
                <a:latin typeface="Aptos"/>
              </a:rPr>
              <a:t>It's a loop, not a one-time check. Every failure you catch makes the next version more trustworthy.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EVALUATION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Build your eval set, then label what fails.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THE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Write 5–10 questions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your wiki should answer. Mix easy with hard.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Write the known-good answer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yourself, from the sources.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Run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each in a fresh context; record beside yours.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Improve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usually a sharper AGENTS.md rule. Smallest fix.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Re-test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and log the before/after.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LABEL EACH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ungrounded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claimed something no source supports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wrong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contradicted by a source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incomplete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missed something the sources cover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anchored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over-relied on one source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sycophantic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— agreed with a leading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666666"/>
                </a:solidFill>
                <a:latin typeface="Aptos"/>
              </a:rPr>
              <a:t>Point the same loop at yourself: explain a concept without looking, have the agent label your failures against the sources, record the corrected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LEARNING WITH AI · THE THROUGHLINE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A tireless tutor — if you use it critically.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The trap:</a:t>
            </a:r>
            <a:r>
              <a:rPr sz="1700" b="0" i="0">
                <a:solidFill>
                  <a:srgbClr val="1A1A1A"/>
                </a:solidFill>
                <a:latin typeface="Aptos"/>
              </a:rPr>
              <a:t> ask, read the confident answer, nod, move on. You feel like you learned something. You didn't — you outsourced it. The model's job is to provoke and check your thinking, not replace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45775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Explain it back.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Close the answer, reproduce it in your own words, then ask the model to find the gaps.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Socratic mode.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“Don't give me the answer. Ask me questions that lead me to it, one at a time.”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Make me practice.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“Generate five questions that test whether I really understand this, hardest last.”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Find my error.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Attempt first, then “Here's my reasoning — where is it wrong, and why?”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Steelman and counter.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Strongest case for X, then the strongest against — past the first framing.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From my sources, for me.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Explain X using only this project's sources, at my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LEARNING WITH AI · THE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The learning log, in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ptos"/>
              </a:rPr>
              <a:t>Every time you genuinely learn something, capture it </a:t>
            </a:r>
            <a:r>
              <a:rPr sz="1800" b="1" i="0">
                <a:solidFill>
                  <a:srgbClr val="1A1A1A"/>
                </a:solidFill>
                <a:latin typeface="Aptos"/>
              </a:rPr>
              <a:t>in your own words</a:t>
            </a:r>
            <a:r>
              <a:rPr sz="1800" b="0" i="0">
                <a:solidFill>
                  <a:srgbClr val="1A1A1A"/>
                </a:solidFill>
                <a:latin typeface="Aptos"/>
              </a:rPr>
              <a:t> — not a copy-paste of the model's answer. Pasted output is a tell that you skipped the thinking.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Aptos"/>
              </a:rPr>
              <a:t>A good entry has: </a:t>
            </a:r>
            <a:r>
              <a:rPr sz="1700" b="0" i="0">
                <a:solidFill>
                  <a:srgbClr val="1A1A1A"/>
                </a:solidFill>
                <a:latin typeface="Aptos"/>
              </a:rPr>
              <a:t>the concept · your explanation · what confused you at first · one open question.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Aptos"/>
              </a:rPr>
              <a:t>Over time this log becomes a record of how </a:t>
            </a:r>
            <a:r>
              <a:rPr sz="1700" b="0" i="1">
                <a:solidFill>
                  <a:srgbClr val="1A1A1A"/>
                </a:solidFill>
                <a:latin typeface="Aptos"/>
              </a:rPr>
              <a:t>you</a:t>
            </a:r>
            <a:r>
              <a:rPr sz="1700" b="0" i="0">
                <a:solidFill>
                  <a:srgbClr val="1A1A1A"/>
                </a:solidFill>
                <a:latin typeface="Aptos"/>
              </a:rPr>
              <a:t> came to understand your project — something no amount of agent output can produce for you.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666666"/>
                </a:solidFill>
                <a:latin typeface="Aptos"/>
              </a:rPr>
              <a:t>This is where the four failure modes bite hardest. A clear explanation can still be wrong; verify against sources. Ask the model to be a hard grader, not a flatterer.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PUT IT TO WORK ·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Point the whole engine at a real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ptos"/>
              </a:rPr>
              <a:t>Take a genuine problem — a bug you don't understand, a decision you're stuck on, material you need to make sense of — and work it through end to end. Run every pillar at least once: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1554480" cy="548640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Aptos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51460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ptos"/>
              </a:rPr>
              <a:t>Put the real material into sources/; let the agent build the wiki.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36392"/>
            <a:ext cx="1554480" cy="548640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Aptos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1363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ptos"/>
              </a:rPr>
              <a:t>Ask grounded questions. Use the lowest rung that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58184"/>
            <a:ext cx="1554480" cy="548640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Aptos"/>
              </a:rPr>
              <a:t>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758184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ptos"/>
              </a:rPr>
              <a:t>Keep both logs current — what you did, and what you learned.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79976"/>
            <a:ext cx="1554480" cy="548640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Aptos"/>
              </a:rP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379976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ptos"/>
              </a:rPr>
              <a:t>Run your eval set. Trust answers only after you've tested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01768"/>
            <a:ext cx="1554480" cy="548640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Aptos"/>
              </a:rP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5001768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ptos"/>
              </a:rPr>
              <a:t>Use the agent to actually understand the problem, not just resolve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623559"/>
            <a:ext cx="1554480" cy="548640"/>
          </a:xfrm>
          <a:prstGeom prst="rect">
            <a:avLst/>
          </a:prstGeom>
          <a:solidFill>
            <a:srgbClr val="F2F2F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Aptos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623559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ptos"/>
              </a:rPr>
              <a:t>Make the call. Write the decision and why into the project log.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PUT IT TO WORK · THE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Done = a small engine you </a:t>
            </a:r>
            <a:r>
              <a:rPr sz="3000" b="1" i="0">
                <a:solidFill>
                  <a:srgbClr val="C14E3F"/>
                </a:solidFill>
                <a:latin typeface="Aptos"/>
              </a:rPr>
              <a:t>trust</a:t>
            </a:r>
            <a:r>
              <a:rPr sz="3000" b="1" i="0">
                <a:solidFill>
                  <a:srgbClr val="1A1A1A"/>
                </a:solidFill>
                <a:latin typeface="Apto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 working wiki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on your real problem: sources ingested, pages linked, index.md current.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 decision or result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you can defend, with the reasoning recorded in wiki/log.md.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An eval run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with failures labeled and at least one AGENTS.md improvement that came from them.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 learning-log entry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in your own words: what you understand now, and the next question you'd chase.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A1A1A"/>
                </a:solidFill>
                <a:latin typeface="Aptos"/>
              </a:rPr>
              <a:t>An AGENTS.md</a:t>
            </a:r>
            <a:r>
              <a:rPr sz="1600" b="0" i="0">
                <a:solidFill>
                  <a:srgbClr val="1A1A1A"/>
                </a:solidFill>
                <a:latin typeface="Aptos"/>
              </a:rPr>
              <a:t> that is genuinely yours — edited from experience, not the starter defaults.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45720" cy="1188720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21208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A1A1A"/>
                </a:solidFill>
                <a:latin typeface="Aptos"/>
              </a:rPr>
              <a:t>You're judged on restraint and honesty, not cleverness.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A1A1A"/>
                </a:solidFill>
                <a:latin typeface="Aptos"/>
              </a:rPr>
              <a:t>A plain prompt that solved it beats an elaborate agent that impressed.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14E3F"/>
                </a:solidFill>
                <a:latin typeface="Aptos"/>
              </a:rPr>
              <a:t>TO 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A1A1A"/>
                </a:solidFill>
                <a:latin typeface="Aptos"/>
              </a:rPr>
              <a:t>Stay the critical thinker in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ptos"/>
              </a:rPr>
              <a:t>You've built something that compounds: every source you add and every failure you catch makes the wiki more useful and more trustworthy than before.</a:t>
            </a:r>
          </a:p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ptos"/>
              </a:rPr>
              <a:t>Three things stay yours: </a:t>
            </a:r>
            <a:r>
              <a:rPr sz="1800" b="1" i="0">
                <a:solidFill>
                  <a:srgbClr val="1A1A1A"/>
                </a:solidFill>
                <a:latin typeface="Aptos"/>
              </a:rPr>
              <a:t>the purpose</a:t>
            </a:r>
            <a:r>
              <a:rPr sz="1800" b="0" i="0">
                <a:solidFill>
                  <a:srgbClr val="1A1A1A"/>
                </a:solidFill>
                <a:latin typeface="Aptos"/>
              </a:rPr>
              <a:t>, </a:t>
            </a:r>
            <a:r>
              <a:rPr sz="1800" b="1" i="0">
                <a:solidFill>
                  <a:srgbClr val="1A1A1A"/>
                </a:solidFill>
                <a:latin typeface="Aptos"/>
              </a:rPr>
              <a:t>the standards</a:t>
            </a:r>
            <a:r>
              <a:rPr sz="1800" b="0" i="0">
                <a:solidFill>
                  <a:srgbClr val="1A1A1A"/>
                </a:solidFill>
                <a:latin typeface="Aptos"/>
              </a:rPr>
              <a:t>, and </a:t>
            </a:r>
            <a:r>
              <a:rPr sz="1800" b="1" i="0">
                <a:solidFill>
                  <a:srgbClr val="1A1A1A"/>
                </a:solidFill>
                <a:latin typeface="Aptos"/>
              </a:rPr>
              <a:t>the acceptance</a:t>
            </a:r>
            <a:r>
              <a:rPr sz="1800" b="0" i="0">
                <a:solidFill>
                  <a:srgbClr val="1A1A1A"/>
                </a:solidFill>
                <a:latin typeface="Aptos"/>
              </a:rPr>
              <a:t>. The agent does the legwork.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45720" cy="1188720"/>
          </a:xfrm>
          <a:prstGeom prst="rect">
            <a:avLst/>
          </a:prstGeom>
          <a:solidFill>
            <a:srgbClr val="C14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A1A1A"/>
                </a:solidFill>
                <a:latin typeface="Aptos"/>
              </a:rPr>
              <a:t>Use the lowest rung that works.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A1A1A"/>
                </a:solidFill>
                <a:latin typeface="Aptos"/>
              </a:rPr>
              <a:t>Document everything.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A1A1A"/>
                </a:solidFill>
                <a:latin typeface="Aptos"/>
              </a:rPr>
              <a:t>Trust nothing you haven't checked.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99p Labs Template v1.0">
  <a:themeElements>
    <a:clrScheme name="99p Labs Colors">
      <a:dk1>
        <a:sysClr val="windowText" lastClr="000000"/>
      </a:dk1>
      <a:lt1>
        <a:sysClr val="window" lastClr="FFFFFF"/>
      </a:lt1>
      <a:dk2>
        <a:srgbClr val="1A1A1A"/>
      </a:dk2>
      <a:lt2>
        <a:srgbClr val="F2F2F2"/>
      </a:lt2>
      <a:accent1>
        <a:srgbClr val="C14E3F"/>
      </a:accent1>
      <a:accent2>
        <a:srgbClr val="CC0000"/>
      </a:accent2>
      <a:accent3>
        <a:srgbClr val="B2B2B3"/>
      </a:accent3>
      <a:accent4>
        <a:srgbClr val="666666"/>
      </a:accent4>
      <a:accent5>
        <a:srgbClr val="D9D9D9"/>
      </a:accent5>
      <a:accent6>
        <a:srgbClr val="D98570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99p Labs PowerPoint Template v1.0.potx" id="{03B18343-9B6E-41F1-BEDE-8BEB787BFFAD}" vid="{14ACB325-7733-453E-917D-14180BA48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46FD2730A660489DE746269E338310" ma:contentTypeVersion="18" ma:contentTypeDescription="Create a new document." ma:contentTypeScope="" ma:versionID="f28984e44994d493d22db8d4a50f88b5">
  <xsd:schema xmlns:xsd="http://www.w3.org/2001/XMLSchema" xmlns:xs="http://www.w3.org/2001/XMLSchema" xmlns:p="http://schemas.microsoft.com/office/2006/metadata/properties" xmlns:ns1="http://schemas.microsoft.com/sharepoint/v3" xmlns:ns2="f897ca7c-a2ba-4ccf-862e-76bd4aa9eb59" xmlns:ns3="f707ac81-a075-4eb3-8c5b-af5524ff05d7" targetNamespace="http://schemas.microsoft.com/office/2006/metadata/properties" ma:root="true" ma:fieldsID="a2a7cf1992aa1da22a6cbdc0776d006e" ns1:_="" ns2:_="" ns3:_="">
    <xsd:import namespace="http://schemas.microsoft.com/sharepoint/v3"/>
    <xsd:import namespace="f897ca7c-a2ba-4ccf-862e-76bd4aa9eb59"/>
    <xsd:import namespace="f707ac81-a075-4eb3-8c5b-af5524ff05d7"/>
    <xsd:element name="properties">
      <xsd:complexType>
        <xsd:sequence>
          <xsd:element name="documentManagement">
            <xsd:complexType>
              <xsd:all>
                <xsd:element ref="ns2:HNDAClassificat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7ca7c-a2ba-4ccf-862e-76bd4aa9eb59" elementFormDefault="qualified">
    <xsd:import namespace="http://schemas.microsoft.com/office/2006/documentManagement/types"/>
    <xsd:import namespace="http://schemas.microsoft.com/office/infopath/2007/PartnerControls"/>
    <xsd:element name="HNDAClassification" ma:index="8" nillable="true" ma:displayName="HNDAClassification" ma:default="B" ma:format="Dropdown" ma:internalName="HNDAClassification">
      <xsd:simpleType>
        <xsd:restriction base="dms:Choice">
          <xsd:enumeration value="S"/>
          <xsd:enumeration value="A"/>
          <xsd:enumeration value="B"/>
          <xsd:enumeration value="C"/>
        </xsd:restriction>
      </xsd:simpleType>
    </xsd:element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512e5ed2-ca92-482b-8242-6f956e5c0b39}" ma:internalName="TaxCatchAll" ma:showField="CatchAllData" ma:web="f897ca7c-a2ba-4ccf-862e-76bd4aa9eb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07ac81-a075-4eb3-8c5b-af5524ff05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776f33e-360e-4421-95ec-db1b42831c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HNDAClassification xmlns="f897ca7c-a2ba-4ccf-862e-76bd4aa9eb59">B</HNDAClassification>
    <TaxCatchAll xmlns="f897ca7c-a2ba-4ccf-862e-76bd4aa9eb59" xsi:nil="true"/>
    <_ip_UnifiedCompliancePolicyProperties xmlns="http://schemas.microsoft.com/sharepoint/v3" xsi:nil="true"/>
    <lcf76f155ced4ddcb4097134ff3c332f xmlns="f707ac81-a075-4eb3-8c5b-af5524ff05d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7B91FD4-48BD-4317-B908-32A10F94E5ED}"/>
</file>

<file path=customXml/itemProps2.xml><?xml version="1.0" encoding="utf-8"?>
<ds:datastoreItem xmlns:ds="http://schemas.openxmlformats.org/officeDocument/2006/customXml" ds:itemID="{16CB71A6-6D06-4C5E-AD6A-25901D617B05}"/>
</file>

<file path=customXml/itemProps3.xml><?xml version="1.0" encoding="utf-8"?>
<ds:datastoreItem xmlns:ds="http://schemas.openxmlformats.org/officeDocument/2006/customXml" ds:itemID="{D119A22E-4FC8-42C8-851B-76CCA9AAF66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Aptos Light</vt:lpstr>
      <vt:lpstr>Aptos SemiBold</vt:lpstr>
      <vt:lpstr>Arial</vt:lpstr>
      <vt:lpstr>99p Labs Template v1.0</vt:lpstr>
    </vt:vector>
  </TitlesOfParts>
  <Company>99p Labs — Honda Research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99p Labs PowerPoint Template v5.0 (Black Logo)</dc:title>
  <dc:creator>99p Labs</dc:creator>
  <cp:lastModifiedBy>99p Labs</cp:lastModifiedBy>
  <cp:revision>3</cp:revision>
  <dcterms:created xsi:type="dcterms:W3CDTF">2026-04-02T02:51:43Z</dcterms:created>
  <dcterms:modified xsi:type="dcterms:W3CDTF">2026-04-10T05:36:12Z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0x0101008646FD2730A660489DE746269E338310</vt:lpwstr>
  </property>
</Properties>
</file>