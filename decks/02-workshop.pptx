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A QUICKSTART, NOT A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200" b="1" i="0">
                <a:solidFill>
                  <a:srgbClr val="141414"/>
                </a:solidFill>
                <a:latin typeface="Arial"/>
              </a:rPr>
              <a:t>Intro to Applied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 i="0">
                <a:solidFill>
                  <a:srgbClr val="5E5E5E"/>
                </a:solidFill>
                <a:latin typeface="Arial"/>
              </a:rPr>
              <a:t>Use AI to think, document, and learn on work you actually care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4577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41414"/>
                </a:solidFill>
                <a:latin typeface="Arial"/>
              </a:rPr>
              <a:t>You take a generic AI agent and turn this repo into a living </a:t>
            </a:r>
            <a:r>
              <a:rPr sz="1800" b="1" i="0">
                <a:solidFill>
                  <a:srgbClr val="141414"/>
                </a:solidFill>
                <a:latin typeface="Arial"/>
              </a:rPr>
              <a:t>LLM wiki</a:t>
            </a:r>
            <a:r>
              <a:rPr sz="1800" b="0" i="0">
                <a:solidFill>
                  <a:srgbClr val="141414"/>
                </a:solidFill>
                <a:latin typeface="Arial"/>
              </a:rPr>
              <a:t> for a project of your own: it reads your material, builds knowledge you can question, documents the work and your learning, and tells you whether to trust it.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5E5E5E"/>
                </a:solidFill>
                <a:latin typeface="Arial"/>
              </a:rPr>
              <a:t>Six short, self-paced modules. Do the hands-on steps on your own material — the goal is a wiki you keep using.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THE BIG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Stop using AI as an </a:t>
            </a:r>
            <a:r>
              <a:rPr sz="3000" b="1" i="0">
                <a:solidFill>
                  <a:srgbClr val="CC0000"/>
                </a:solidFill>
                <a:latin typeface="Arial"/>
              </a:rPr>
              <a:t>answer machine</a:t>
            </a:r>
            <a:r>
              <a:rPr sz="3000" b="1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41414"/>
                </a:solidFill>
                <a:latin typeface="Arial"/>
              </a:rPr>
              <a:t>Ask, copy, forget. It feels productive and teaches you nothing — the fluency that makes a model sound smart is the same fluency that hides what you don't actually understand.</a:t>
            </a:r>
          </a:p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41414"/>
                </a:solidFill>
                <a:latin typeface="Arial"/>
              </a:rPr>
              <a:t>The alternative: build a small </a:t>
            </a:r>
            <a:r>
              <a:rPr sz="1800" b="1" i="0">
                <a:solidFill>
                  <a:srgbClr val="141414"/>
                </a:solidFill>
                <a:latin typeface="Arial"/>
              </a:rPr>
              <a:t>engine</a:t>
            </a:r>
            <a:r>
              <a:rPr sz="1800" b="0" i="0">
                <a:solidFill>
                  <a:srgbClr val="141414"/>
                </a:solidFill>
                <a:latin typeface="Arial"/>
              </a:rPr>
              <a:t> on top of your own material that helps you figure out what you don't yet know — while </a:t>
            </a:r>
            <a:r>
              <a:rPr sz="1800" b="1" i="0">
                <a:solidFill>
                  <a:srgbClr val="141414"/>
                </a:solidFill>
                <a:latin typeface="Arial"/>
              </a:rPr>
              <a:t>you</a:t>
            </a:r>
            <a:r>
              <a:rPr sz="1800" b="0" i="0">
                <a:solidFill>
                  <a:srgbClr val="141414"/>
                </a:solidFill>
                <a:latin typeface="Arial"/>
              </a:rPr>
              <a:t> stay the critical thinker in the loop.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5E5E5E"/>
                </a:solidFill>
                <a:latin typeface="Arial"/>
              </a:rPr>
              <a:t>The goal isn't answers faster. It's better thinking, documented as you go, that you can trust because you tested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THE LANDSCAPE · WHAT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What applied AI engineering helps you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41414"/>
                </a:solidFill>
                <a:latin typeface="Arial"/>
              </a:rPr>
              <a:t>Across almost any knowledge work, the same kind of engine helps in a handful of broad ways: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3200400" cy="36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50591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Understand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41414"/>
                </a:solidFill>
                <a:latin typeface="Arial"/>
              </a:rPr>
              <a:t>Turn a pile of docs, code, or data into knowledge you can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2331720"/>
            <a:ext cx="3200400" cy="36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2450591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Find &amp; ground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41414"/>
                </a:solidFill>
                <a:latin typeface="Arial"/>
              </a:rPr>
              <a:t>Get answers from your material, with citations — not generic guesses.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2331720"/>
            <a:ext cx="3200400" cy="36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2450591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Create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41414"/>
                </a:solidFill>
                <a:latin typeface="Arial"/>
              </a:rPr>
              <a:t>Draft and revise documents, code, and plans; get past the blank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3200400" cy="36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79392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Decide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41414"/>
                </a:solidFill>
                <a:latin typeface="Arial"/>
              </a:rPr>
              <a:t>Lay out options and tradeoffs, and pressure-test your reasoning.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4160520"/>
            <a:ext cx="3200400" cy="36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279392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Learn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41414"/>
                </a:solidFill>
                <a:latin typeface="Arial"/>
              </a:rPr>
              <a:t>A tutor that explains, quizzes, and grades honestly — so it sticks.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4160520"/>
            <a:ext cx="3200400" cy="36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4279392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Trust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141414"/>
                </a:solidFill>
                <a:latin typeface="Arial"/>
              </a:rPr>
              <a:t>Test whether the output is right before you rely on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E5E5E"/>
                </a:solidFill>
                <a:latin typeface="Arial"/>
              </a:rPr>
              <a:t>This quickstart builds one such engine — an LLM wiki — and uses it for the foundation the rest build on: </a:t>
            </a:r>
            <a:r>
              <a:rPr sz="1300" b="1" i="0">
                <a:solidFill>
                  <a:srgbClr val="5E5E5E"/>
                </a:solidFill>
                <a:latin typeface="Arial"/>
              </a:rPr>
              <a:t>understand</a:t>
            </a:r>
            <a:r>
              <a:rPr sz="1300" b="0" i="0">
                <a:solidFill>
                  <a:srgbClr val="5E5E5E"/>
                </a:solidFill>
                <a:latin typeface="Arial"/>
              </a:rPr>
              <a:t>, </a:t>
            </a:r>
            <a:r>
              <a:rPr sz="1300" b="1" i="0">
                <a:solidFill>
                  <a:srgbClr val="5E5E5E"/>
                </a:solidFill>
                <a:latin typeface="Arial"/>
              </a:rPr>
              <a:t>learn</a:t>
            </a:r>
            <a:r>
              <a:rPr sz="1300" b="0" i="0">
                <a:solidFill>
                  <a:srgbClr val="5E5E5E"/>
                </a:solidFill>
                <a:latin typeface="Arial"/>
              </a:rPr>
              <a:t>, and </a:t>
            </a:r>
            <a:r>
              <a:rPr sz="1300" b="1" i="0">
                <a:solidFill>
                  <a:srgbClr val="5E5E5E"/>
                </a:solidFill>
                <a:latin typeface="Arial"/>
              </a:rPr>
              <a:t>trust</a:t>
            </a:r>
            <a:r>
              <a:rPr sz="1300" b="0" i="0">
                <a:solidFill>
                  <a:srgbClr val="5E5E5E"/>
                </a:solidFill>
                <a:latin typeface="Arial"/>
              </a:rPr>
              <a:t> your own material.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WHAT YOU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Three layers, two habits.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554480" cy="658368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874519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 i="0">
                <a:solidFill>
                  <a:srgbClr val="141414"/>
                </a:solidFill>
                <a:latin typeface="Arial"/>
              </a:rPr>
              <a:t>Raw material you give it — specs, docs, notes, data. The agent READS, never edits.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554480" cy="658368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Wiki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624327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 i="0">
                <a:solidFill>
                  <a:srgbClr val="141414"/>
                </a:solidFill>
                <a:latin typeface="Arial"/>
              </a:rPr>
              <a:t>The knowledge base the agent WRITES and keeps current: pages, an index, concepts, citations.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74135"/>
            <a:ext cx="1554480" cy="658368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374135"/>
            <a:ext cx="8595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0" i="0">
                <a:solidFill>
                  <a:srgbClr val="141414"/>
                </a:solidFill>
                <a:latin typeface="Arial"/>
              </a:rPr>
              <a:t>AGENTS.md — the rules that turn a generic agent into a disciplined wiki maintainer. You own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9663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141414"/>
                </a:solidFill>
                <a:latin typeface="Arial"/>
              </a:rPr>
              <a:t>And two habits that run the whole time: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26864"/>
            <a:ext cx="10545775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Document everything, on two tracks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a project log and a learning log.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Evaluate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a loop you run to check whether the wiki, and your understanding, hold 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CONCEPTS ·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Three ways to put a model to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41414"/>
                </a:solidFill>
                <a:latin typeface="Arial"/>
              </a:rPr>
              <a:t>Not a ranking and not a guide for action — a map of the space, so you can tell which mode you're actually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2316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42316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42316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423160"/>
            <a:ext cx="502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23160"/>
            <a:ext cx="21945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CC0000"/>
                </a:solidFill>
                <a:latin typeface="Arial"/>
              </a:rPr>
              <a:t>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72968"/>
            <a:ext cx="7589520" cy="566928"/>
          </a:xfrm>
          <a:prstGeom prst="rect">
            <a:avLst/>
          </a:prstGeom>
          <a:solidFill>
            <a:srgbClr val="EFEFE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>
                <a:solidFill>
                  <a:srgbClr val="CC0000"/>
                </a:solidFill>
                <a:latin typeface="Arial"/>
              </a:rPr>
              <a:t>CONTEXT</a:t>
            </a:r>
            <a:r>
              <a:rPr sz="1300" b="1">
                <a:solidFill>
                  <a:srgbClr val="141414"/>
                </a:solidFill>
                <a:latin typeface="Arial"/>
              </a:rPr>
              <a:t> — what the model knows. The ground all three run on, not a mode you pick.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45775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Prompts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one-off. You ask, the model answers.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Workflows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a fixed, predetermined program: steps you define in advance, run the same way each time.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Agents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dynamic: the model creates and revises its own steps at runtime to reach a goal.</a:t>
            </a:r>
          </a:p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E5E5E"/>
                </a:solidFill>
                <a:latin typeface="Arial"/>
              </a:rPr>
              <a:t>Left to right, the steps shift from </a:t>
            </a:r>
            <a:r>
              <a:rPr sz="1300" b="1" i="0">
                <a:solidFill>
                  <a:srgbClr val="5E5E5E"/>
                </a:solidFill>
                <a:latin typeface="Arial"/>
              </a:rPr>
              <a:t>fixed</a:t>
            </a:r>
            <a:r>
              <a:rPr sz="1300" b="0" i="0">
                <a:solidFill>
                  <a:srgbClr val="5E5E5E"/>
                </a:solidFill>
                <a:latin typeface="Arial"/>
              </a:rPr>
              <a:t> to </a:t>
            </a:r>
            <a:r>
              <a:rPr sz="1300" b="1" i="0">
                <a:solidFill>
                  <a:srgbClr val="5E5E5E"/>
                </a:solidFill>
                <a:latin typeface="Arial"/>
              </a:rPr>
              <a:t>dynamic</a:t>
            </a:r>
            <a:r>
              <a:rPr sz="1300" b="0" i="0">
                <a:solidFill>
                  <a:srgbClr val="5E5E5E"/>
                </a:solidFill>
                <a:latin typeface="Arial"/>
              </a:rPr>
              <a:t> — and from </a:t>
            </a:r>
            <a:r>
              <a:rPr sz="1300" b="1" i="0">
                <a:solidFill>
                  <a:srgbClr val="5E5E5E"/>
                </a:solidFill>
                <a:latin typeface="Arial"/>
              </a:rPr>
              <a:t>you</a:t>
            </a:r>
            <a:r>
              <a:rPr sz="1300" b="0" i="0">
                <a:solidFill>
                  <a:srgbClr val="5E5E5E"/>
                </a:solidFill>
                <a:latin typeface="Arial"/>
              </a:rPr>
              <a:t> deciding them to the </a:t>
            </a:r>
            <a:r>
              <a:rPr sz="1300" b="1" i="0">
                <a:solidFill>
                  <a:srgbClr val="5E5E5E"/>
                </a:solidFill>
                <a:latin typeface="Arial"/>
              </a:rPr>
              <a:t>model</a:t>
            </a:r>
            <a:r>
              <a:rPr sz="1300" b="0" i="0">
                <a:solidFill>
                  <a:srgbClr val="5E5E5E"/>
                </a:solidFill>
                <a:latin typeface="Arial"/>
              </a:rPr>
              <a:t> deciding them. Every mode is only as good as the context beneath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CONCEPTS · THE VOCABULARY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The words you'll use constantly.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LLM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predicts the next chunk of text. Brilliant at sounding right, which is not being right. A fast, confident intern with no memory and no accountability.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Token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the unit a model reads, writes, and bills in. “Cheaper / fit more” = fewer tokens.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Context window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all the text the model can see at once. It's finite. What's not in the window doesn't exist to the model. Managing it is most of the skill.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Prompt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your instruction. A good one is a specification (what, in what form, with what constraints), not a magic phrase.</a:t>
            </a:r>
          </a:p>
          <a:p>
            <a:pPr algn="l" indent="0" marL="0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Context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everything the model needs before it can help: facts, files, goals, audience. The grounding that makes an answer about your project, not a generic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CONCEPTS · THE VOCABULARY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From tools to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Tool / tool-calling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a capability the model can invoke (read a file, run a command, search). Where the power and the risk live, so tools get boundaries.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Agent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an LLM in a loop with tools: read, decide, act, observe, repeat. An agent without checks is just automation with confidence.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Harness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the program that wraps the model, gives it tools, and runs the loop. Here that's opencode.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AGENTS.md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the schema that turns a generic agent into your disciplined one. The heart of this repo.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Eval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a test of whether output is actually good: a question with a known-good answer. Turns “I think it works” into a number.</a:t>
            </a:r>
          </a:p>
          <a:p>
            <a:pPr algn="l" indent="0" marL="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00" b="1" i="0">
                <a:solidFill>
                  <a:srgbClr val="CC0000"/>
                </a:solidFill>
                <a:latin typeface="Arial"/>
              </a:rPr>
              <a:t>Hallucination</a:t>
            </a:r>
            <a:r>
              <a:rPr sz="1500" b="0" i="0">
                <a:solidFill>
                  <a:srgbClr val="141414"/>
                </a:solidFill>
                <a:latin typeface="Arial"/>
              </a:rPr>
              <a:t> — a confident, fluent, wrong answer. The default failure of LLMs. The whole discipline exists to catch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CONCEPTS · WHAT YOU'RE HUNTING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The four </a:t>
            </a:r>
            <a:r>
              <a:rPr sz="3000" b="1" i="0">
                <a:solidFill>
                  <a:srgbClr val="CC0000"/>
                </a:solidFill>
                <a:latin typeface="Arial"/>
              </a:rPr>
              <a:t>failure modes</a:t>
            </a:r>
            <a:r>
              <a:rPr sz="3000" b="1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41414"/>
                </a:solidFill>
                <a:latin typeface="Arial"/>
              </a:rPr>
              <a:t>Name them when you catch them — they're baked into AGENTS.md so the agent self-checks too.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77440"/>
          <a:ext cx="10515600" cy="2834640"/>
        </p:xfrm>
        <a:graphic>
          <a:graphicData uri="http://schemas.openxmlformats.org/drawingml/2006/table">
            <a:tbl>
              <a:tblPr/>
              <a:tblGrid>
                <a:gridCol w="3200400"/>
                <a:gridCol w="731520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C0000"/>
                          </a:solidFill>
                          <a:latin typeface="Arial"/>
                        </a:rPr>
                        <a:t>Failure mode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C0000"/>
                          </a:solidFill>
                          <a:latin typeface="Arial"/>
                        </a:rPr>
                        <a:t>What it looks like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41414"/>
                          </a:solidFill>
                          <a:latin typeface="Arial"/>
                        </a:rPr>
                        <a:t>Fluency ≠ correctness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41414"/>
                          </a:solidFill>
                          <a:latin typeface="Arial"/>
                        </a:rPr>
                        <a:t>It sounds right. Check whether it is.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41414"/>
                          </a:solidFill>
                          <a:latin typeface="Arial"/>
                        </a:rPr>
                        <a:t>Automation bias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41414"/>
                          </a:solidFill>
                          <a:latin typeface="Arial"/>
                        </a:rPr>
                        <a:t>“A machine made it” is not evidence it's true.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41414"/>
                          </a:solidFill>
                          <a:latin typeface="Arial"/>
                        </a:rPr>
                        <a:t>Anchoring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41414"/>
                          </a:solidFill>
                          <a:latin typeface="Arial"/>
                        </a:rPr>
                        <a:t>The first framing or first source isn't automatically the best one.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41414"/>
                          </a:solidFill>
                          <a:latin typeface="Arial"/>
                        </a:rPr>
                        <a:t>Sycophancy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41414"/>
                          </a:solidFill>
                          <a:latin typeface="Arial"/>
                        </a:rPr>
                        <a:t>A model that agrees with you isn't the same as a model that's right.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SETUP · THE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Three things to get working first.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C0000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CC0000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41414"/>
                          </a:solidFill>
                          <a:latin typeface="Arial"/>
                        </a:rPr>
                        <a:t>opencode</a:t>
                      </a:r>
                      <a:r>
                        <a:rPr sz="1200" b="0" i="0">
                          <a:solidFill>
                            <a:srgbClr val="5E5E5E"/>
                          </a:solidFill>
                          <a:latin typeface="Arial"/>
                        </a:rPr>
                        <a:t>  (opencode.ai)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41414"/>
                          </a:solidFill>
                          <a:latin typeface="Arial"/>
                        </a:rPr>
                        <a:t>The agent harness. Runs the agent — reads sources/, writes wiki/, follows AGENTS.md automatically. This is the engine.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41414"/>
                          </a:solidFill>
                          <a:latin typeface="Arial"/>
                        </a:rPr>
                        <a:t>A provider key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41414"/>
                          </a:solidFill>
                          <a:latin typeface="Arial"/>
                        </a:rPr>
                        <a:t>The model behind the agent. Use a capable reasoning model — and set a hard spend cap with your provider before your first run, not after a surprise bill.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1" i="0">
                          <a:solidFill>
                            <a:srgbClr val="141414"/>
                          </a:solidFill>
                          <a:latin typeface="Arial"/>
                        </a:rPr>
                        <a:t>An editor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00" b="0" i="0">
                          <a:solidFill>
                            <a:srgbClr val="141414"/>
                          </a:solidFill>
                          <a:latin typeface="Arial"/>
                        </a:rPr>
                        <a:t>How you read and browse the wiki: VS Code and/or Obsidian (next slide).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4864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E5E5E"/>
                </a:solidFill>
                <a:latin typeface="Arial"/>
              </a:rPr>
              <a:t>Don't lose a session fighting your environment — get all three working before anything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SETUP · CHOOSE AN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VS Code </a:t>
            </a:r>
            <a:r>
              <a:rPr sz="3000" b="1" i="0">
                <a:solidFill>
                  <a:srgbClr val="CC0000"/>
                </a:solidFill>
                <a:latin typeface="Arial"/>
              </a:rPr>
              <a:t>and/or</a:t>
            </a:r>
            <a:r>
              <a:rPr sz="3000" b="1" i="0">
                <a:solidFill>
                  <a:srgbClr val="141414"/>
                </a:solidFill>
                <a:latin typeface="Arial"/>
              </a:rPr>
              <a:t> Obsidian.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41414"/>
                </a:solidFill>
                <a:latin typeface="Arial"/>
              </a:rPr>
              <a:t>Both work — this is preference, not correctness.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240280"/>
          <a:ext cx="10515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4343400"/>
                <a:gridCol w="4343400"/>
              </a:tblGrid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CC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CC0000"/>
                          </a:solidFill>
                          <a:latin typeface="Arial"/>
                        </a:rPr>
                        <a:t>VS Code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CC0000"/>
                          </a:solidFill>
                          <a:latin typeface="Arial"/>
                        </a:rPr>
                        <a:t>Obsidian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Arial"/>
                        </a:rPr>
                        <a:t>Best when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Arial"/>
                        </a:rPr>
                        <a:t>Your project is code, or lives near a terminal and Git.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Arial"/>
                        </a:rPr>
                        <a:t>Your project is knowledge you want to navigate and connect.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Arial"/>
                        </a:rPr>
                        <a:t>Strengths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Arial"/>
                        </a:rPr>
                        <a:t>Integrated terminal &amp; Git, runs opencode inline, great for code and config.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Arial"/>
                        </a:rPr>
                        <a:t>Beautiful Markdown, backlinks, and a graph view of how pages connect.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Arial"/>
                        </a:rPr>
                        <a:t>Tradeoff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Arial"/>
                        </a:rPr>
                        <a:t>Markdown browsing is plain.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Arial"/>
                        </a:rPr>
                        <a:t>No built-in terminal/Git; run opencode alongside it.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E5E5E"/>
                </a:solidFill>
                <a:latin typeface="Arial"/>
              </a:rPr>
              <a:t>Many run both: VS Code for the agent and Git, Obsidian to read the wiki and see its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SETUP · SAFETY &amp;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141414"/>
                </a:solidFill>
                <a:latin typeface="Arial"/>
              </a:rPr>
              <a:t>Keep a known-good state. Verify before moving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852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41414"/>
                </a:solidFill>
                <a:latin typeface="Arial"/>
              </a:rPr>
              <a:t>Never paste secrets or private data into a prompt or source file.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41414"/>
                </a:solidFill>
                <a:latin typeface="Arial"/>
              </a:rPr>
              <a:t>Checkpoint before letting the agent change anything (git commit, or dated copies).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41414"/>
                </a:solidFill>
                <a:latin typeface="Arial"/>
              </a:rPr>
              <a:t>Review every change before you accept it.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41414"/>
                </a:solidFill>
                <a:latin typeface="Arial"/>
              </a:rPr>
              <a:t>Prefer small, reviewable steps.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500" b="0" i="0">
                <a:solidFill>
                  <a:srgbClr val="141414"/>
                </a:solidFill>
                <a:latin typeface="Arial"/>
              </a:rPr>
              <a:t>Give the agent narrow authority — let it own wiki/, not your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SMOKE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286000"/>
            <a:ext cx="4389120" cy="192024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CC0000"/>
                </a:solidFill>
                <a:latin typeface="Arial"/>
              </a:rPr>
              <a:t>ASK THE AGENT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1">
                <a:solidFill>
                  <a:srgbClr val="141414"/>
                </a:solidFill>
                <a:latin typeface="Arial"/>
              </a:rPr>
              <a:t>Read AGENTS.md and tell me, in your own words, what your job is in this repo and what you are not allowed to touch.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2286000"/>
            <a:ext cx="45720" cy="192024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38912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E5E5E"/>
                </a:solidFill>
                <a:latin typeface="Arial"/>
              </a:rPr>
              <a:t>If it answers that it maintains wiki/, follows the schema, and must never edit sources/ — your setup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DOCUMENT &amp; WIKI · 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The wiki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141414"/>
                </a:solidFill>
                <a:latin typeface="Arial"/>
              </a:rPr>
              <a:t>Instead of asking the model from memory, you give it a folder of your material and let it build and maintain a knowledge base on 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834640"/>
            <a:ext cx="3291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sources/  ·  agent 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834640"/>
            <a:ext cx="502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2834640"/>
            <a:ext cx="3291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CC0000"/>
                </a:solidFill>
                <a:latin typeface="Arial"/>
              </a:rPr>
              <a:t>wiki/  ·  agent 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834640"/>
            <a:ext cx="502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834640"/>
            <a:ext cx="3291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141414"/>
                </a:solidFill>
                <a:latin typeface="Arial"/>
              </a:rPr>
              <a:t>AGENTS.md  ·  the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45775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Why Markdown?</a:t>
            </a:r>
            <a:r>
              <a:rPr sz="1700" b="0" i="0">
                <a:solidFill>
                  <a:srgbClr val="141414"/>
                </a:solidFill>
                <a:latin typeface="Arial"/>
              </a:rPr>
              <a:t> A .md file opens in any editor, on any system, with no vendor lock-in. Your knowledge doesn't depend on a company staying in business or an app keeping a feature. It's yours, in plain text, forever.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DOCUMENT &amp; WIKI · 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Document everything — on </a:t>
            </a:r>
            <a:r>
              <a:rPr sz="3000" b="1" i="0">
                <a:solidFill>
                  <a:srgbClr val="CC0000"/>
                </a:solidFill>
                <a:latin typeface="Arial"/>
              </a:rPr>
              <a:t>two logs</a:t>
            </a:r>
            <a:r>
              <a:rPr sz="3000" b="1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1560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  <a:gridCol w="3931920"/>
                <a:gridCol w="2286000"/>
              </a:tblGrid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C0000"/>
                          </a:solidFill>
                          <a:latin typeface="Arial"/>
                        </a:rPr>
                        <a:t>Track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C0000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C0000"/>
                          </a:solidFill>
                          <a:latin typeface="Arial"/>
                        </a:rPr>
                        <a:t>Captures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CC0000"/>
                          </a:solidFill>
                          <a:latin typeface="Arial"/>
                        </a:rPr>
                        <a:t>Answers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19050" cap="flat">
                      <a:solidFill>
                        <a:srgbClr val="CC0000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Arial"/>
                        </a:rPr>
                        <a:t>wiki/log.md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Arial"/>
                        </a:rPr>
                        <a:t>What was done, what changed, decisions and why, what's open.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1">
                          <a:solidFill>
                            <a:srgbClr val="141414"/>
                          </a:solidFill>
                          <a:latin typeface="Arial"/>
                        </a:rPr>
                        <a:t>What happened to the work?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Arial"/>
                        </a:rPr>
                        <a:t>Learning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Arial"/>
                        </a:rPr>
                        <a:t>wiki/learning-log.md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Arial"/>
                        </a:rPr>
                        <a:t>What you understood, in your own words; aha-moments; open questions.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0" i="1">
                          <a:solidFill>
                            <a:srgbClr val="141414"/>
                          </a:solidFill>
                          <a:latin typeface="Arial"/>
                        </a:rPr>
                        <a:t>What did I figure out?</a:t>
                      </a:r>
                    </a:p>
                  </a:txBody>
                  <a:tcPr anchor="t" marL="73152" marR="109728" marT="45720" marB="45720">
                    <a:solidFill>
                      <a:srgbClr val="FFFFFF"/>
                    </a:solidFill>
                    <a:lnB w="9525" cap="flat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06240"/>
            <a:ext cx="10545775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41414"/>
                </a:solidFill>
                <a:latin typeface="Arial"/>
              </a:rPr>
              <a:t>The project log is the memory of the work. The learning log is the memory of </a:t>
            </a:r>
            <a:r>
              <a:rPr sz="1600" b="0" i="1">
                <a:solidFill>
                  <a:srgbClr val="141414"/>
                </a:solidFill>
                <a:latin typeface="Arial"/>
              </a:rPr>
              <a:t>you getting smarter</a:t>
            </a:r>
            <a:r>
              <a:rPr sz="1600" b="0" i="0">
                <a:solidFill>
                  <a:srgbClr val="141414"/>
                </a:solidFill>
                <a:latin typeface="Arial"/>
              </a:rPr>
              <a:t>. AGENTS.md tells the agent to keep both: it appends to the project log after work, and prompts you for a learning entry whenever it teaches you something.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DOCUMENT &amp; WIKI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Build your wiki — on real material.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Add sources.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Drop 2–3 real files into sources/ — a spec, a design doc, data, an article, notes.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Ingest: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>
                <a:solidFill>
                  <a:srgbClr val="CC0000"/>
                </a:solidFill>
                <a:latin typeface="Arial"/>
              </a:rPr>
              <a:t>ASK THE AGENT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1">
                <a:solidFill>
                  <a:srgbClr val="141414"/>
                </a:solidFill>
                <a:latin typeface="Arial"/>
              </a:rPr>
              <a:t>Ingest the files in sources/. For each, create a summary page in the wiki and extract the key concepts and entities into their own pages, with source citations. Then update wiki/index.md and log what you did.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45720" cy="146304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45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Inspect.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Open the new pages. Does every claim cite a source? In Obsidian, check the graph.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Ask a grounded question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only your sources can answer. Confidently filling a gap is a hallucination — note it.</a:t>
            </a:r>
          </a:p>
          <a:p>
            <a:pPr algn="l" indent="-201168" marL="201168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Check the logs.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Confirm log.md got an entry; write your first learning-log entry in your own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EVALUATION ·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Trust you </a:t>
            </a:r>
            <a:r>
              <a:rPr sz="3000" b="1" i="0">
                <a:solidFill>
                  <a:srgbClr val="CC0000"/>
                </a:solidFill>
                <a:latin typeface="Arial"/>
              </a:rPr>
              <a:t>test</a:t>
            </a:r>
            <a:r>
              <a:rPr sz="3000" b="1" i="0">
                <a:solidFill>
                  <a:srgbClr val="141414"/>
                </a:solidFill>
                <a:latin typeface="Arial"/>
              </a:rPr>
              <a:t>, not trust you hope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41414"/>
                </a:solidFill>
                <a:latin typeface="Arial"/>
              </a:rPr>
              <a:t>A wiki you can't trust is worse than no wiki — it's confident misinformation.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Label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Build evals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377440"/>
            <a:ext cx="320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C0000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377440"/>
            <a:ext cx="18288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CC0000"/>
                </a:solidFill>
                <a:latin typeface="Arial"/>
              </a:rPr>
              <a:t>Re-test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10545775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“Looks good” is fluency talking.</a:t>
            </a:r>
            <a:r>
              <a:rPr sz="1700" b="0" i="0">
                <a:solidFill>
                  <a:srgbClr val="141414"/>
                </a:solidFill>
                <a:latin typeface="Arial"/>
              </a:rPr>
              <a:t> An eval set turns a vibe into a number: </a:t>
            </a:r>
            <a:r>
              <a:rPr sz="1700" b="0" i="1">
                <a:solidFill>
                  <a:srgbClr val="141414"/>
                </a:solidFill>
                <a:latin typeface="Arial"/>
              </a:rPr>
              <a:t>of my ten test questions, the wiki gets eight grounded and right.</a:t>
            </a:r>
            <a:r>
              <a:rPr sz="1700" b="0" i="0">
                <a:solidFill>
                  <a:srgbClr val="141414"/>
                </a:solidFill>
                <a:latin typeface="Arial"/>
              </a:rPr>
              <a:t> Now you can prove an improvement instead of guessing at one.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5E5E5E"/>
                </a:solidFill>
                <a:latin typeface="Arial"/>
              </a:rPr>
              <a:t>It's a loop, not a one-time check. Every failure you catch makes the next version more trustworthy.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EVALUATION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Build your eval set, then label what fails.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THE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Write 5–10 questions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your wiki should answer. Mix easy with hard.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Write the known-good answer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yourself, from the sources.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Run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each in a fresh context; record beside yours.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Improve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usually a sharper AGENTS.md rule. Smallest fix.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Re-test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and log the before/after.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LABEL EACH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ungrounded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claimed something no source supports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wrong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contradicted by a source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incomplete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missed something the sources cover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anchored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over-relied on one source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sycophantic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— agreed with a leading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5E5E5E"/>
                </a:solidFill>
                <a:latin typeface="Arial"/>
              </a:rPr>
              <a:t>Point the same loop at yourself: explain a concept without looking, have the agent label your failures against the sources, record the corrected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LEARNING WITH AI · THE THROUGHLINE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A tireless tutor — if you use it critically.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The trap:</a:t>
            </a:r>
            <a:r>
              <a:rPr sz="1700" b="0" i="0">
                <a:solidFill>
                  <a:srgbClr val="141414"/>
                </a:solidFill>
                <a:latin typeface="Arial"/>
              </a:rPr>
              <a:t> ask, read the confident answer, nod, move on. You feel like you learned something. You didn't — you outsourced it. The model's job is to provoke and check your thinking, not replace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45775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Explain it back.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Close the answer, reproduce it in your own words, then ask the model to find the gaps.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Socratic mode.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“Don't give me the answer. Ask me questions that lead me to it, one at a time.”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Make me practice.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“Generate five questions that test whether I really understand this, hardest last.”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Find my error.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Attempt first, then “Here's my reasoning — where is it wrong, and why?”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Steelman and counter.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Strongest case for X, then the strongest against — past the first framing.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From my sources, for me.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Explain X using only this project's sources, at my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LEARNING WITH AI · THE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The learning log, in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41414"/>
                </a:solidFill>
                <a:latin typeface="Arial"/>
              </a:rPr>
              <a:t>Every time you genuinely learn something, capture it </a:t>
            </a:r>
            <a:r>
              <a:rPr sz="1800" b="1" i="0">
                <a:solidFill>
                  <a:srgbClr val="141414"/>
                </a:solidFill>
                <a:latin typeface="Arial"/>
              </a:rPr>
              <a:t>in your own words</a:t>
            </a:r>
            <a:r>
              <a:rPr sz="1800" b="0" i="0">
                <a:solidFill>
                  <a:srgbClr val="141414"/>
                </a:solidFill>
                <a:latin typeface="Arial"/>
              </a:rPr>
              <a:t> — not a copy-paste of the model's answer. Pasted output is a tell that you skipped the thinking.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1" i="0">
                <a:solidFill>
                  <a:srgbClr val="141414"/>
                </a:solidFill>
                <a:latin typeface="Arial"/>
              </a:rPr>
              <a:t>A good entry has: </a:t>
            </a:r>
            <a:r>
              <a:rPr sz="1700" b="0" i="0">
                <a:solidFill>
                  <a:srgbClr val="141414"/>
                </a:solidFill>
                <a:latin typeface="Arial"/>
              </a:rPr>
              <a:t>the concept · your explanation · what confused you at first · one open question.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700" b="0" i="0">
                <a:solidFill>
                  <a:srgbClr val="141414"/>
                </a:solidFill>
                <a:latin typeface="Arial"/>
              </a:rPr>
              <a:t>Over time this log becomes a record of how </a:t>
            </a:r>
            <a:r>
              <a:rPr sz="1700" b="0" i="1">
                <a:solidFill>
                  <a:srgbClr val="141414"/>
                </a:solidFill>
                <a:latin typeface="Arial"/>
              </a:rPr>
              <a:t>you</a:t>
            </a:r>
            <a:r>
              <a:rPr sz="1700" b="0" i="0">
                <a:solidFill>
                  <a:srgbClr val="141414"/>
                </a:solidFill>
                <a:latin typeface="Arial"/>
              </a:rPr>
              <a:t> came to understand your project — something no amount of agent output can produce for you.</a:t>
            </a:r>
          </a:p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5E5E5E"/>
                </a:solidFill>
                <a:latin typeface="Arial"/>
              </a:rPr>
              <a:t>This is where the four failure modes bite hardest. A clear explanation can still be wrong; verify against sources. Ask the model to be a hard grader, not a flatterer.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PUT IT TO WORK ·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Point the whole engine at a real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141414"/>
                </a:solidFill>
                <a:latin typeface="Arial"/>
              </a:rPr>
              <a:t>Take a genuine problem — a bug you don't understand, a decision you're stuck on, material you need to make sense of — and work it through end to end. Run every pillar at least once: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1554480" cy="548640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51460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41414"/>
                </a:solidFill>
                <a:latin typeface="Arial"/>
              </a:rPr>
              <a:t>Put the real material into sources/; let the agent build the wiki.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36392"/>
            <a:ext cx="1554480" cy="548640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1363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41414"/>
                </a:solidFill>
                <a:latin typeface="Arial"/>
              </a:rPr>
              <a:t>Ask grounded questions. Use the lowest rung that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58184"/>
            <a:ext cx="1554480" cy="548640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758184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41414"/>
                </a:solidFill>
                <a:latin typeface="Arial"/>
              </a:rPr>
              <a:t>Keep both logs current — what you did, and what you learned.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79976"/>
            <a:ext cx="1554480" cy="548640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379976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41414"/>
                </a:solidFill>
                <a:latin typeface="Arial"/>
              </a:rPr>
              <a:t>Run your eval set. Trust answers only after you've tested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01768"/>
            <a:ext cx="1554480" cy="548640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5001768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41414"/>
                </a:solidFill>
                <a:latin typeface="Arial"/>
              </a:rPr>
              <a:t>Use the agent to actually understand the problem, not just resolve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623559"/>
            <a:ext cx="1554480" cy="548640"/>
          </a:xfrm>
          <a:prstGeom prst="rect">
            <a:avLst/>
          </a:prstGeom>
          <a:solidFill>
            <a:srgbClr val="EFEF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623559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0" i="0">
                <a:solidFill>
                  <a:srgbClr val="141414"/>
                </a:solidFill>
                <a:latin typeface="Arial"/>
              </a:rPr>
              <a:t>Make the call. Write the decision and why into the project log.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PUT IT TO WORK · THE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Done = a small engine you </a:t>
            </a:r>
            <a:r>
              <a:rPr sz="3000" b="1" i="0">
                <a:solidFill>
                  <a:srgbClr val="CC0000"/>
                </a:solidFill>
                <a:latin typeface="Arial"/>
              </a:rPr>
              <a:t>trust</a:t>
            </a:r>
            <a:r>
              <a:rPr sz="3000" b="1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 working wiki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on your real problem: sources ingested, pages linked, index.md current.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 decision or result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you can defend, with the reasoning recorded in wiki/log.md.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An eval run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with failures labeled and at least one AGENTS.md improvement that came from them.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 learning-log entry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in your own words: what you understand now, and the next question you'd chase.</a:t>
            </a:r>
          </a:p>
          <a:p>
            <a:pPr algn="l" indent="-201168" marL="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CC0000"/>
              </a:buClr>
              <a:buFont typeface="Arial"/>
              <a:buChar char="–"/>
            </a:pPr>
            <a:r>
              <a:rPr sz="1600" b="1" i="0">
                <a:solidFill>
                  <a:srgbClr val="141414"/>
                </a:solidFill>
                <a:latin typeface="Arial"/>
              </a:rPr>
              <a:t>An AGENTS.md</a:t>
            </a:r>
            <a:r>
              <a:rPr sz="1600" b="0" i="0">
                <a:solidFill>
                  <a:srgbClr val="141414"/>
                </a:solidFill>
                <a:latin typeface="Arial"/>
              </a:rPr>
              <a:t> that is genuinely yours — edited from experience, not the starter defaults.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45720" cy="118872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21208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41414"/>
                </a:solidFill>
                <a:latin typeface="Arial"/>
              </a:rPr>
              <a:t>You're judged on restraint and honesty, not cleverness.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41414"/>
                </a:solidFill>
                <a:latin typeface="Arial"/>
              </a:rPr>
              <a:t>A plain prompt that solved it beats an elaborate agent that impressed.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i="0">
                <a:solidFill>
                  <a:srgbClr val="CC0000"/>
                </a:solidFill>
                <a:latin typeface="Arial"/>
              </a:rPr>
              <a:t>TO 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41414"/>
                </a:solidFill>
                <a:latin typeface="Arial"/>
              </a:rPr>
              <a:t>Stay the critical thinker in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800" b="0" i="0">
                <a:solidFill>
                  <a:srgbClr val="141414"/>
                </a:solidFill>
                <a:latin typeface="Arial"/>
              </a:rPr>
              <a:t>You've built something that compounds: every source you add and every failure you catch makes the wiki more useful and more trustworthy than before.</a:t>
            </a:r>
          </a:p>
          <a:p>
            <a:pPr algn="l"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141414"/>
                </a:solidFill>
                <a:latin typeface="Arial"/>
              </a:rPr>
              <a:t>Three things stay yours: </a:t>
            </a:r>
            <a:r>
              <a:rPr sz="1800" b="1" i="0">
                <a:solidFill>
                  <a:srgbClr val="141414"/>
                </a:solidFill>
                <a:latin typeface="Arial"/>
              </a:rPr>
              <a:t>the purpose</a:t>
            </a:r>
            <a:r>
              <a:rPr sz="1800" b="0" i="0">
                <a:solidFill>
                  <a:srgbClr val="141414"/>
                </a:solidFill>
                <a:latin typeface="Arial"/>
              </a:rPr>
              <a:t>, </a:t>
            </a:r>
            <a:r>
              <a:rPr sz="1800" b="1" i="0">
                <a:solidFill>
                  <a:srgbClr val="141414"/>
                </a:solidFill>
                <a:latin typeface="Arial"/>
              </a:rPr>
              <a:t>the standards</a:t>
            </a:r>
            <a:r>
              <a:rPr sz="1800" b="0" i="0">
                <a:solidFill>
                  <a:srgbClr val="141414"/>
                </a:solidFill>
                <a:latin typeface="Arial"/>
              </a:rPr>
              <a:t>, and </a:t>
            </a:r>
            <a:r>
              <a:rPr sz="1800" b="1" i="0">
                <a:solidFill>
                  <a:srgbClr val="141414"/>
                </a:solidFill>
                <a:latin typeface="Arial"/>
              </a:rPr>
              <a:t>the acceptance</a:t>
            </a:r>
            <a:r>
              <a:rPr sz="1800" b="0" i="0">
                <a:solidFill>
                  <a:srgbClr val="141414"/>
                </a:solidFill>
                <a:latin typeface="Arial"/>
              </a:rPr>
              <a:t>. The agent does the legwork.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45720" cy="118872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41414"/>
                </a:solidFill>
                <a:latin typeface="Arial"/>
              </a:rPr>
              <a:t>Start small.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41414"/>
                </a:solidFill>
                <a:latin typeface="Arial"/>
              </a:rPr>
              <a:t>Write it down.</a:t>
            </a:r>
          </a:p>
          <a:p>
            <a:pPr algn="l" indent="0" marL="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>
                <a:solidFill>
                  <a:srgbClr val="141414"/>
                </a:solidFill>
                <a:latin typeface="Arial"/>
              </a:rPr>
              <a:t>Verify before you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5E5E5E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